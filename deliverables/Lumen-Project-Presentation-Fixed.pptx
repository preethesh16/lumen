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6858000" cy="9144000"/>
  <p:embeddedFontLst>
    <p:embeddedFont>
      <p:font typeface="Comfortaa" panose="020B0604020202020204" charset="0"/>
      <p:regular r:id="rId18"/>
      <p:bold r:id="rId19"/>
    </p:embeddedFont>
    <p:embeddedFont>
      <p:font typeface="Comfortaa SemiBold" panose="020B0604020202020204" charset="0"/>
      <p:regular r:id="rId20"/>
      <p:bold r:id="rId21"/>
    </p:embeddedFont>
    <p:embeddedFont>
      <p:font typeface="Lexend" panose="020B0604020202020204" charset="0"/>
      <p:regular r:id="rId22"/>
      <p:bold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7" roundtripDataSignature="AMtx7mgrvYT8rNqol79uvNLgXi2/CbSio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9A93702-C7AD-4381-9FB6-5D4852653587}" v="102" dt="2026-07-25T21:06:56.76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font" Target="fonts/font1.fntdata"/><Relationship Id="rId19" Type="http://schemas.openxmlformats.org/officeDocument/2006/relationships/font" Target="fonts/font2.fntdata"/><Relationship Id="rId20" Type="http://schemas.openxmlformats.org/officeDocument/2006/relationships/font" Target="fonts/font3.fntdata"/><Relationship Id="rId21" Type="http://schemas.openxmlformats.org/officeDocument/2006/relationships/font" Target="fonts/font4.fntdata"/><Relationship Id="rId22" Type="http://schemas.openxmlformats.org/officeDocument/2006/relationships/font" Target="fonts/font5.fntdata"/><Relationship Id="rId23" Type="http://schemas.openxmlformats.org/officeDocument/2006/relationships/font" Target="fonts/font6.fntdata"/><Relationship Id="rId27" Type="http://customschemas.google.com/relationships/presentationmetadata" Target="metadata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32" Type="http://schemas.microsoft.com/office/2015/10/relationships/revisionInfo" Target="revisionInfo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b6b5a08f8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b6b5a08f8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" name="Google Shape;5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5" name="Google Shape;6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2" name="Google Shape;7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1" name="Google Shape;8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" name="Google Shape;9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8" name="Google Shape;9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5" name="Google Shape;10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2" name="Google Shape;112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" name="Google Shape;119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" name="Google Shape;126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4" name="Google Shape;134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1" name="Google Shape;141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7" name="Google Shape;157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7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17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9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20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2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22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3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24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24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24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5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6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26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1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1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1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1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1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1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1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Relationship Id="rId4" Type="http://schemas.openxmlformats.org/officeDocument/2006/relationships/image" Target="../media/image2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lumen.64-227-166-157.sslip.io" TargetMode="External"/><Relationship Id="rId4" Type="http://schemas.openxmlformats.org/officeDocument/2006/relationships/image" Target="../media/image1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0.png"/><Relationship Id="rId4" Type="http://schemas.openxmlformats.org/officeDocument/2006/relationships/image" Target="../media/image2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hyperlink" Target="https://github.com/Preethesh16/Lumen" TargetMode="External"/><Relationship Id="rId6" Type="http://schemas.openxmlformats.org/officeDocument/2006/relationships/hyperlink" Target="https://lumen.64-227-166-157.sslip.io" TargetMode="External"/><Relationship Id="rId7" Type="http://schemas.openxmlformats.org/officeDocument/2006/relationships/hyperlink" Target="https://api.64-227-166-157.sslip.io/health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3b6b5a08f88_0_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GB" b="1"/>
              <a:t>Lumen — Humanitarian Attention-Gap Intelligence</a:t>
            </a:r>
            <a:r>
              <a:rPr lang="en-GB"/>
              <a:t/>
            </a:r>
            <a:endParaRPr lang="en-GB" b="1" dirty="0"/>
          </a:p>
        </p:txBody>
      </p:sp>
      <p:sp>
        <p:nvSpPr>
          <p:cNvPr id="55" name="Google Shape;55;g3b6b5a08f88_0_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indent="0">
              <a:buNone/>
            </a:pPr>
            <a:r>
              <a:rPr lang="en-GB" dirty="0"/>
              <a:t>Full Name: Preethesh Carvalho, Deepthi C J</a:t>
            </a:r>
            <a:r>
              <a:rPr lang="en-GB"/>
              <a:t/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indent="0">
              <a:buNone/>
            </a:pPr>
            <a:r>
              <a:rPr lang="en-GB"/>
              <a:t>Registered Mail ID: 23i61.preethesh@sjec.ac.in, 23i62.deepthi@sjec.ac.in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indent="0">
              <a:buNone/>
            </a:pPr>
            <a:r>
              <a:rPr lang="en-GB"/>
              <a:t>College Name: St Joseph Engineering College, Mangalore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indent="0">
              <a:buNone/>
            </a:pPr>
            <a:r>
              <a:rPr lang="en-GB"/>
              <a:t>Mobile: 8904145205, 9019932005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indent="0">
              <a:buNone/>
            </a:pPr>
            <a:r>
              <a:rPr lang="en-GB"/>
              <a:t>IBM SkillsBuild Mail ID: 23i61.preethesh@sjec.ac.in, 23i62.deepthi@sjec.ac.in</a:t>
            </a:r>
            <a:endParaRPr lang="en-GB">
              <a:solidFill>
                <a:srgbClr val="000000"/>
              </a:solidFill>
            </a:endParaRPr>
          </a:p>
          <a:p>
            <a:pPr marL="0" indent="0">
              <a:lnSpc>
                <a:spcPct val="114999"/>
              </a:lnSpc>
              <a:buNone/>
            </a:pPr>
            <a:endParaRPr lang="en-GB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Picture 62" descr="Screenshot From 2026-07-26 00-44-0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9925" y="1186121"/>
            <a:ext cx="4794075" cy="2771258"/>
          </a:xfrm>
          <a:prstGeom prst="rect">
            <a:avLst/>
          </a:prstGeom>
        </p:spPr>
      </p:pic>
      <p:sp>
        <p:nvSpPr>
          <p:cNvPr id="61" name="Google Shape;61;p2"/>
          <p:cNvSpPr txBox="1">
            <a:spLocks noGrp="1"/>
          </p:cNvSpPr>
          <p:nvPr>
            <p:ph type="title"/>
          </p:nvPr>
        </p:nvSpPr>
        <p:spPr>
          <a:xfrm>
            <a:off x="311700" y="298050"/>
            <a:ext cx="2495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Introduction: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" name="Google Shape;62;p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64400" cy="38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916" b="1">
                <a:solidFill>
                  <a:schemeClr val="dk1"/>
                </a:solidFill>
                <a:highlight>
                  <a:schemeClr val="lt1"/>
                </a:highlight>
                <a:latin typeface="Comfortaa"/>
                <a:ea typeface="Comfortaa"/>
                <a:cs typeface="Comfortaa"/>
                <a:sym typeface="Comfortaa"/>
              </a:rPr>
              <a:t>The Attention Gap:</a:t>
            </a:r>
            <a:endParaRPr sz="1916" b="1">
              <a:solidFill>
                <a:schemeClr val="dk1"/>
              </a:solidFill>
              <a:highlight>
                <a:schemeClr val="lt1"/>
              </a:highlight>
              <a:latin typeface="Comfortaa"/>
              <a:ea typeface="Comfortaa"/>
              <a:cs typeface="Comfortaa"/>
              <a:sym typeface="Comfortaa"/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omfortaa SemiBold"/>
              <a:buChar char="●"/>
            </a:pPr>
            <a:r>
              <a:rPr lang="en-GB" sz="1700">
                <a:solidFill>
                  <a:schemeClr val="dk1"/>
                </a:solidFill>
                <a:highlight>
                  <a:schemeClr val="lt1"/>
                </a:highlight>
                <a:latin typeface="Comfortaa SemiBold"/>
                <a:ea typeface="Comfortaa SemiBold"/>
                <a:cs typeface="Comfortaa SemiBold"/>
                <a:sym typeface="Comfortaa SemiBold"/>
              </a:rPr>
              <a:t>High-need crises can remain under-reported.</a:t>
            </a:r>
            <a:endParaRPr sz="1700">
              <a:solidFill>
                <a:schemeClr val="dk1"/>
              </a:solidFill>
              <a:highlight>
                <a:schemeClr val="lt1"/>
              </a:highlight>
              <a:latin typeface="Comfortaa SemiBold"/>
              <a:ea typeface="Comfortaa SemiBold"/>
              <a:cs typeface="Comfortaa SemiBold"/>
              <a:sym typeface="Comfortaa SemiBold"/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omfortaa SemiBold"/>
              <a:buChar char="●"/>
            </a:pPr>
            <a:r>
              <a:rPr lang="en-GB" sz="1700">
                <a:solidFill>
                  <a:schemeClr val="dk1"/>
                </a:solidFill>
                <a:highlight>
                  <a:schemeClr val="lt1"/>
                </a:highlight>
                <a:latin typeface="Comfortaa SemiBold"/>
                <a:ea typeface="Comfortaa SemiBold"/>
                <a:cs typeface="Comfortaa SemiBold"/>
                <a:sym typeface="Comfortaa SemiBold"/>
              </a:rPr>
              <a:t>Humanitarian and media data lives in separate systems.</a:t>
            </a:r>
            <a:endParaRPr sz="1700">
              <a:solidFill>
                <a:schemeClr val="dk1"/>
              </a:solidFill>
              <a:highlight>
                <a:schemeClr val="lt1"/>
              </a:highlight>
              <a:latin typeface="Comfortaa SemiBold"/>
              <a:ea typeface="Comfortaa SemiBold"/>
              <a:cs typeface="Comfortaa SemiBold"/>
              <a:sym typeface="Comfortaa SemiBold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916" b="1">
                <a:solidFill>
                  <a:schemeClr val="dk1"/>
                </a:solidFill>
                <a:highlight>
                  <a:schemeClr val="lt1"/>
                </a:highlight>
                <a:latin typeface="Comfortaa"/>
                <a:ea typeface="Comfortaa"/>
                <a:cs typeface="Comfortaa"/>
                <a:sym typeface="Comfortaa"/>
              </a:rPr>
              <a:t>Lumen's Response:</a:t>
            </a:r>
            <a:endParaRPr sz="1916" b="1">
              <a:solidFill>
                <a:schemeClr val="dk1"/>
              </a:solidFill>
              <a:highlight>
                <a:schemeClr val="lt1"/>
              </a:highlight>
              <a:latin typeface="Comfortaa"/>
              <a:ea typeface="Comfortaa"/>
              <a:cs typeface="Comfortaa"/>
              <a:sym typeface="Comfortaa"/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omfortaa SemiBold"/>
              <a:buChar char="●"/>
            </a:pPr>
            <a:r>
              <a:rPr lang="en-GB" sz="1700">
                <a:solidFill>
                  <a:schemeClr val="dk1"/>
                </a:solidFill>
                <a:highlight>
                  <a:schemeClr val="lt1"/>
                </a:highlight>
                <a:latin typeface="Comfortaa SemiBold"/>
                <a:ea typeface="Comfortaa SemiBold"/>
                <a:cs typeface="Comfortaa SemiBold"/>
                <a:sym typeface="Comfortaa SemiBold"/>
              </a:rPr>
              <a:t>Compare need, coverage and underfunding transparently.</a:t>
            </a:r>
            <a:endParaRPr sz="1700">
              <a:solidFill>
                <a:schemeClr val="dk1"/>
              </a:solidFill>
              <a:highlight>
                <a:schemeClr val="lt1"/>
              </a:highlight>
              <a:latin typeface="Comfortaa SemiBold"/>
              <a:ea typeface="Comfortaa SemiBold"/>
              <a:cs typeface="Comfortaa SemiBold"/>
              <a:sym typeface="Comfortaa SemiBold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916" b="1">
                <a:solidFill>
                  <a:schemeClr val="dk1"/>
                </a:solidFill>
                <a:highlight>
                  <a:schemeClr val="lt1"/>
                </a:highlight>
                <a:latin typeface="Comfortaa"/>
                <a:ea typeface="Comfortaa"/>
                <a:cs typeface="Comfortaa"/>
                <a:sym typeface="Comfortaa"/>
              </a:rPr>
              <a:t>From Evidence to Action:</a:t>
            </a:r>
            <a:endParaRPr sz="1916" b="1">
              <a:solidFill>
                <a:schemeClr val="dk1"/>
              </a:solidFill>
              <a:highlight>
                <a:schemeClr val="lt1"/>
              </a:highlight>
              <a:latin typeface="Comfortaa"/>
              <a:ea typeface="Comfortaa"/>
              <a:cs typeface="Comfortaa"/>
              <a:sym typeface="Comfortaa"/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omfortaa SemiBold"/>
              <a:buChar char="●"/>
            </a:pPr>
            <a:r>
              <a:rPr lang="en-GB" sz="1700">
                <a:solidFill>
                  <a:schemeClr val="dk1"/>
                </a:solidFill>
                <a:highlight>
                  <a:schemeClr val="lt1"/>
                </a:highlight>
                <a:latin typeface="Comfortaa SemiBold"/>
                <a:ea typeface="Comfortaa SemiBold"/>
                <a:cs typeface="Comfortaa SemiBold"/>
                <a:sym typeface="Comfortaa SemiBold"/>
              </a:rPr>
              <a:t>Rank 26 crises and deliver grounded briefs daily.</a:t>
            </a:r>
            <a:endParaRPr sz="1700">
              <a:solidFill>
                <a:schemeClr val="dk1"/>
              </a:solidFill>
              <a:highlight>
                <a:schemeClr val="lt1"/>
              </a:highlight>
              <a:latin typeface="Comfortaa SemiBold"/>
              <a:ea typeface="Comfortaa SemiBold"/>
              <a:cs typeface="Comfortaa SemiBold"/>
              <a:sym typeface="Comfortaa SemiBold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8B4B0"/>
        </a:solid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Picture 69" descr="Screenshot From 2026-07-26 00-44-1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0500" y="1085127"/>
            <a:ext cx="5143500" cy="2973246"/>
          </a:xfrm>
          <a:prstGeom prst="rect">
            <a:avLst/>
          </a:prstGeom>
        </p:spPr>
      </p:pic>
      <p:sp>
        <p:nvSpPr>
          <p:cNvPr id="68" name="Google Shape;68;p3"/>
          <p:cNvSpPr txBox="1">
            <a:spLocks noGrp="1"/>
          </p:cNvSpPr>
          <p:nvPr>
            <p:ph type="title"/>
          </p:nvPr>
        </p:nvSpPr>
        <p:spPr>
          <a:xfrm>
            <a:off x="194150" y="136400"/>
            <a:ext cx="3582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Problem Statement: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" name="Google Shape;69;p3"/>
          <p:cNvSpPr txBox="1">
            <a:spLocks noGrp="1"/>
          </p:cNvSpPr>
          <p:nvPr>
            <p:ph type="body" idx="1"/>
          </p:nvPr>
        </p:nvSpPr>
        <p:spPr>
          <a:xfrm>
            <a:off x="194150" y="900150"/>
            <a:ext cx="7800300" cy="399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-GB" b="1" u="sng">
                <a:solidFill>
                  <a:schemeClr val="dk1"/>
                </a:solidFill>
                <a:highlight>
                  <a:srgbClr val="68B4B0"/>
                </a:highlight>
                <a:latin typeface="Comfortaa"/>
                <a:ea typeface="Comfortaa"/>
                <a:cs typeface="Comfortaa"/>
                <a:sym typeface="Comfortaa"/>
              </a:rPr>
              <a:t>Objective:</a:t>
            </a:r>
            <a:endParaRPr b="1" u="sng">
              <a:solidFill>
                <a:schemeClr val="dk1"/>
              </a:solidFill>
              <a:highlight>
                <a:srgbClr val="68B4B0"/>
              </a:highlight>
              <a:latin typeface="Comfortaa"/>
              <a:ea typeface="Comfortaa"/>
              <a:cs typeface="Comfortaa"/>
              <a:sym typeface="Comfortaa"/>
            </a:endParaRPr>
          </a:p>
          <a:p>
            <a:pPr marL="45720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lang="en-GB" sz="1700">
                <a:solidFill>
                  <a:schemeClr val="dk1"/>
                </a:solidFill>
                <a:highlight>
                  <a:srgbClr val="68B4B0"/>
                </a:highlight>
                <a:latin typeface="Comfortaa SemiBold"/>
                <a:ea typeface="Comfortaa SemiBold"/>
                <a:cs typeface="Comfortaa SemiBold"/>
                <a:sym typeface="Comfortaa SemiBold"/>
              </a:rPr>
              <a:t>Surface high-need, low-attention crises through transparent daily scoring.</a:t>
            </a:r>
            <a:endParaRPr sz="1700">
              <a:solidFill>
                <a:schemeClr val="dk1"/>
              </a:solidFill>
              <a:highlight>
                <a:srgbClr val="68B4B0"/>
              </a:highlight>
              <a:latin typeface="Comfortaa SemiBold"/>
              <a:ea typeface="Comfortaa SemiBold"/>
              <a:cs typeface="Comfortaa SemiBold"/>
              <a:sym typeface="Comfortaa SemiBold"/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05"/>
              <a:buFont typeface="Arial"/>
              <a:buNone/>
            </a:pPr>
            <a:r>
              <a:rPr lang="en-GB" b="1" u="sng">
                <a:solidFill>
                  <a:schemeClr val="dk1"/>
                </a:solidFill>
                <a:highlight>
                  <a:srgbClr val="68B4B0"/>
                </a:highlight>
                <a:latin typeface="Comfortaa"/>
                <a:ea typeface="Comfortaa"/>
                <a:cs typeface="Comfortaa"/>
                <a:sym typeface="Comfortaa"/>
              </a:rPr>
              <a:t>Specific Goals:</a:t>
            </a:r>
            <a:r>
              <a:rPr lang="en-GB" sz="1700">
                <a:solidFill>
                  <a:schemeClr val="dk1"/>
                </a:solidFill>
                <a:highlight>
                  <a:srgbClr val="68B4B0"/>
                </a:highlight>
                <a:latin typeface="Comfortaa SemiBold"/>
                <a:ea typeface="Comfortaa SemiBold"/>
                <a:cs typeface="Comfortaa SemiBold"/>
                <a:sym typeface="Comfortaa SemiBold"/>
              </a:rPr>
              <a:t/>
            </a:r>
            <a:endParaRPr sz="1700">
              <a:solidFill>
                <a:schemeClr val="dk1"/>
              </a:solidFill>
              <a:highlight>
                <a:srgbClr val="68B4B0"/>
              </a:highlight>
              <a:latin typeface="Comfortaa SemiBold"/>
              <a:ea typeface="Comfortaa SemiBold"/>
              <a:cs typeface="Comfortaa SemiBold"/>
              <a:sym typeface="Comfortaa SemiBold"/>
            </a:endParaRPr>
          </a:p>
          <a:p>
            <a:pPr marL="457200" lvl="0" indent="-33655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omfortaa SemiBold"/>
              <a:buChar char="●"/>
            </a:pPr>
            <a:r>
              <a:rPr lang="en-GB" sz="1700">
                <a:solidFill>
                  <a:schemeClr val="dk1"/>
                </a:solidFill>
                <a:highlight>
                  <a:srgbClr val="68B4B0"/>
                </a:highlight>
                <a:latin typeface="Comfortaa SemiBold"/>
                <a:ea typeface="Comfortaa SemiBold"/>
                <a:cs typeface="Comfortaa SemiBold"/>
                <a:sym typeface="Comfortaa SemiBold"/>
              </a:rPr>
              <a:t>Collect displacement, appeal, funding, disaster and coverage signals.</a:t>
            </a:r>
            <a:endParaRPr sz="1700">
              <a:solidFill>
                <a:schemeClr val="dk1"/>
              </a:solidFill>
              <a:highlight>
                <a:srgbClr val="68B4B0"/>
              </a:highlight>
              <a:latin typeface="Comfortaa SemiBold"/>
              <a:ea typeface="Comfortaa SemiBold"/>
              <a:cs typeface="Comfortaa SemiBold"/>
              <a:sym typeface="Comfortaa SemiBold"/>
            </a:endParaRPr>
          </a:p>
          <a:p>
            <a:pPr marL="457200" lvl="0" indent="-33655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omfortaa SemiBold"/>
              <a:buChar char="●"/>
            </a:pPr>
            <a:r>
              <a:rPr lang="en-GB" sz="1700">
                <a:solidFill>
                  <a:schemeClr val="dk1"/>
                </a:solidFill>
                <a:highlight>
                  <a:srgbClr val="68B4B0"/>
                </a:highlight>
                <a:latin typeface="Comfortaa SemiBold"/>
                <a:ea typeface="Comfortaa SemiBold"/>
                <a:cs typeface="Comfortaa SemiBold"/>
                <a:sym typeface="Comfortaa SemiBold"/>
              </a:rPr>
              <a:t>Store raw observations before computing scores.</a:t>
            </a:r>
            <a:endParaRPr sz="1700">
              <a:solidFill>
                <a:schemeClr val="dk1"/>
              </a:solidFill>
              <a:highlight>
                <a:srgbClr val="68B4B0"/>
              </a:highlight>
              <a:latin typeface="Comfortaa SemiBold"/>
              <a:ea typeface="Comfortaa SemiBold"/>
              <a:cs typeface="Comfortaa SemiBold"/>
              <a:sym typeface="Comfortaa SemiBold"/>
            </a:endParaRPr>
          </a:p>
          <a:p>
            <a:pPr marL="457200" lvl="0" indent="-33655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omfortaa SemiBold"/>
              <a:buChar char="●"/>
            </a:pPr>
            <a:r>
              <a:rPr lang="en-GB" sz="1700">
                <a:solidFill>
                  <a:schemeClr val="dk1"/>
                </a:solidFill>
                <a:highlight>
                  <a:srgbClr val="68B4B0"/>
                </a:highlight>
                <a:latin typeface="Comfortaa SemiBold"/>
                <a:ea typeface="Comfortaa SemiBold"/>
                <a:cs typeface="Comfortaa SemiBold"/>
                <a:sym typeface="Comfortaa SemiBold"/>
              </a:rPr>
              <a:t>Rank crises with a tested Attention-Gap formula.</a:t>
            </a:r>
            <a:endParaRPr sz="1700">
              <a:solidFill>
                <a:schemeClr val="dk1"/>
              </a:solidFill>
              <a:highlight>
                <a:srgbClr val="68B4B0"/>
              </a:highlight>
              <a:latin typeface="Comfortaa SemiBold"/>
              <a:ea typeface="Comfortaa SemiBold"/>
              <a:cs typeface="Comfortaa SemiBold"/>
              <a:sym typeface="Comfortaa SemiBold"/>
            </a:endParaRPr>
          </a:p>
          <a:p>
            <a:pPr marL="457200" lvl="0" indent="-33655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omfortaa SemiBold"/>
              <a:buChar char="●"/>
            </a:pPr>
            <a:r>
              <a:rPr lang="en-GB" sz="1700">
                <a:solidFill>
                  <a:schemeClr val="dk1"/>
                </a:solidFill>
                <a:highlight>
                  <a:srgbClr val="68B4B0"/>
                </a:highlight>
                <a:latin typeface="Comfortaa SemiBold"/>
                <a:ea typeface="Comfortaa SemiBold"/>
                <a:cs typeface="Comfortaa SemiBold"/>
                <a:sym typeface="Comfortaa SemiBold"/>
              </a:rPr>
              <a:t>Explain trends and evidence in a public dashboard.</a:t>
            </a:r>
            <a:endParaRPr sz="1700">
              <a:solidFill>
                <a:schemeClr val="dk1"/>
              </a:solidFill>
              <a:highlight>
                <a:srgbClr val="68B4B0"/>
              </a:highlight>
              <a:latin typeface="Comfortaa SemiBold"/>
              <a:ea typeface="Comfortaa SemiBold"/>
              <a:cs typeface="Comfortaa SemiBold"/>
              <a:sym typeface="Comfortaa SemiBold"/>
            </a:endParaRPr>
          </a:p>
          <a:p>
            <a:pPr marL="457200" lvl="0" indent="-33655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omfortaa SemiBold"/>
              <a:buChar char="●"/>
            </a:pPr>
            <a:r>
              <a:rPr lang="en-GB" sz="1700">
                <a:solidFill>
                  <a:schemeClr val="dk1"/>
                </a:solidFill>
                <a:highlight>
                  <a:srgbClr val="68B4B0"/>
                </a:highlight>
                <a:latin typeface="Comfortaa SemiBold"/>
                <a:ea typeface="Comfortaa SemiBold"/>
                <a:cs typeface="Comfortaa SemiBold"/>
                <a:sym typeface="Comfortaa SemiBold"/>
              </a:rPr>
              <a:t>Deliver briefs through Telegram and email.</a:t>
            </a:r>
            <a:endParaRPr sz="1700">
              <a:solidFill>
                <a:schemeClr val="dk1"/>
              </a:solidFill>
              <a:highlight>
                <a:srgbClr val="68B4B0"/>
              </a:highlight>
              <a:latin typeface="Comfortaa SemiBold"/>
              <a:ea typeface="Comfortaa SemiBold"/>
              <a:cs typeface="Comfortaa SemiBold"/>
              <a:sym typeface="Comfortaa SemiBold"/>
            </a:endParaRPr>
          </a:p>
          <a:p>
            <a:pPr marL="457200" lvl="0" indent="-33655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omfortaa SemiBold"/>
              <a:buChar char="●"/>
            </a:pPr>
            <a:r>
              <a:rPr lang="en-GB" sz="1700">
                <a:solidFill>
                  <a:schemeClr val="dk1"/>
                </a:solidFill>
                <a:highlight>
                  <a:srgbClr val="68B4B0"/>
                </a:highlight>
                <a:latin typeface="Comfortaa SemiBold"/>
                <a:ea typeface="Comfortaa SemiBold"/>
                <a:cs typeface="Comfortaa SemiBold"/>
                <a:sym typeface="Comfortaa SemiBold"/>
              </a:rPr>
              <a:t>Remain useful when a source or AI provider fails.</a:t>
            </a:r>
            <a:endParaRPr sz="1700">
              <a:solidFill>
                <a:schemeClr val="dk1"/>
              </a:solidFill>
              <a:highlight>
                <a:srgbClr val="68B4B0"/>
              </a:highlight>
              <a:latin typeface="Comfortaa SemiBold"/>
              <a:ea typeface="Comfortaa SemiBold"/>
              <a:cs typeface="Comfortaa SemiBold"/>
              <a:sym typeface="Comfortaa SemiBold"/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605"/>
              <a:buNone/>
            </a:pPr>
            <a:endParaRPr sz="1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740664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Picture 78" descr="Screenshot From 2026-07-26 00-44-4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34900" y="1326293"/>
            <a:ext cx="4309100" cy="2490914"/>
          </a:xfrm>
          <a:prstGeom prst="rect">
            <a:avLst/>
          </a:prstGeom>
        </p:spPr>
      </p:pic>
      <p:sp>
        <p:nvSpPr>
          <p:cNvPr id="76" name="Google Shape;76;p4"/>
          <p:cNvSpPr txBox="1">
            <a:spLocks noGrp="1"/>
          </p:cNvSpPr>
          <p:nvPr>
            <p:ph type="title"/>
          </p:nvPr>
        </p:nvSpPr>
        <p:spPr>
          <a:xfrm>
            <a:off x="135450" y="253975"/>
            <a:ext cx="561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Sustainable Development Goals: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" name="Google Shape;77;p4"/>
          <p:cNvSpPr txBox="1">
            <a:spLocks noGrp="1"/>
          </p:cNvSpPr>
          <p:nvPr>
            <p:ph type="body" idx="1"/>
          </p:nvPr>
        </p:nvSpPr>
        <p:spPr>
          <a:xfrm>
            <a:off x="135450" y="1034900"/>
            <a:ext cx="5258100" cy="3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2"/>
              <a:buFont typeface="Arial"/>
              <a:buNone/>
            </a:pPr>
            <a:r>
              <a:rPr lang="en-GB">
                <a:solidFill>
                  <a:schemeClr val="dk1"/>
                </a:solidFill>
                <a:highlight>
                  <a:srgbClr val="D3C3AA"/>
                </a:highlight>
                <a:latin typeface="Comfortaa SemiBold"/>
                <a:ea typeface="Comfortaa SemiBold"/>
                <a:cs typeface="Comfortaa SemiBold"/>
                <a:sym typeface="Comfortaa SemiBold"/>
              </a:rPr>
              <a:t>Goals Chosen: SDG 10, SDG 16 and SDG 17</a:t>
            </a:r>
            <a:endParaRPr>
              <a:solidFill>
                <a:schemeClr val="dk1"/>
              </a:solidFill>
              <a:highlight>
                <a:srgbClr val="D3C3AA"/>
              </a:highlight>
              <a:latin typeface="Comfortaa SemiBold"/>
              <a:ea typeface="Comfortaa SemiBold"/>
              <a:cs typeface="Comfortaa SemiBold"/>
              <a:sym typeface="Comfortaa SemiBold"/>
            </a:endParaRPr>
          </a:p>
          <a:p>
            <a:pPr marL="457200" lvl="0" indent="-34290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fortaa SemiBold"/>
              <a:buChar char="●"/>
            </a:pPr>
            <a:r>
              <a:rPr lang="en-GB">
                <a:solidFill>
                  <a:schemeClr val="dk1"/>
                </a:solidFill>
                <a:highlight>
                  <a:srgbClr val="D3C3AA"/>
                </a:highlight>
                <a:latin typeface="Comfortaa SemiBold"/>
                <a:ea typeface="Comfortaa SemiBold"/>
                <a:cs typeface="Comfortaa SemiBold"/>
                <a:sym typeface="Comfortaa SemiBold"/>
              </a:rPr>
              <a:t>Problem Statement:</a:t>
            </a:r>
            <a:endParaRPr>
              <a:solidFill>
                <a:schemeClr val="dk1"/>
              </a:solidFill>
              <a:highlight>
                <a:srgbClr val="D3C3AA"/>
              </a:highlight>
              <a:latin typeface="Comfortaa SemiBold"/>
              <a:ea typeface="Comfortaa SemiBold"/>
              <a:cs typeface="Comfortaa SemiBold"/>
              <a:sym typeface="Comfortaa SemiBold"/>
            </a:endParaRPr>
          </a:p>
          <a:p>
            <a:pPr marL="914400" lvl="1" indent="-3429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fortaa SemiBold"/>
              <a:buChar char="○"/>
            </a:pPr>
            <a:r>
              <a:rPr lang="en-GB" sz="1800">
                <a:solidFill>
                  <a:schemeClr val="dk1"/>
                </a:solidFill>
                <a:highlight>
                  <a:srgbClr val="D3C3AA"/>
                </a:highlight>
                <a:latin typeface="Comfortaa SemiBold"/>
                <a:ea typeface="Comfortaa SemiBold"/>
                <a:cs typeface="Comfortaa SemiBold"/>
                <a:sym typeface="Comfortaa SemiBold"/>
              </a:rPr>
              <a:t>Unequal crisis visibility weakens informed reporting, accountability and resource mobilisation.</a:t>
            </a:r>
            <a:endParaRPr sz="1800">
              <a:solidFill>
                <a:schemeClr val="dk1"/>
              </a:solidFill>
              <a:highlight>
                <a:srgbClr val="D3C3AA"/>
              </a:highlight>
              <a:latin typeface="Comfortaa SemiBold"/>
              <a:ea typeface="Comfortaa SemiBold"/>
              <a:cs typeface="Comfortaa SemiBold"/>
              <a:sym typeface="Comfortaa SemiBold"/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endParaRPr sz="1800">
              <a:solidFill>
                <a:schemeClr val="dk1"/>
              </a:solidFill>
              <a:highlight>
                <a:schemeClr val="lt1"/>
              </a:highlight>
              <a:latin typeface="Comfortaa SemiBold"/>
              <a:ea typeface="Comfortaa SemiBold"/>
              <a:cs typeface="Comfortaa SemiBold"/>
              <a:sym typeface="Comfortaa SemiBold"/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852"/>
              <a:buNone/>
            </a:pPr>
            <a:endParaRPr>
              <a:highlight>
                <a:schemeClr val="lt1"/>
              </a:highlight>
            </a:endParaRPr>
          </a:p>
        </p:txBody>
      </p:sp>
      <p:sp>
        <p:nvSpPr>
          <p:cNvPr id="78" name="Google Shape;78;p4"/>
          <p:cNvSpPr txBox="1">
            <a:spLocks noGrp="1"/>
          </p:cNvSpPr>
          <p:nvPr>
            <p:ph type="body" idx="1"/>
          </p:nvPr>
        </p:nvSpPr>
        <p:spPr>
          <a:xfrm>
            <a:off x="311700" y="2854700"/>
            <a:ext cx="5258100" cy="19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fortaa SemiBold"/>
              <a:buChar char="●"/>
            </a:pPr>
            <a:r>
              <a:rPr lang="en-GB">
                <a:solidFill>
                  <a:schemeClr val="dk1"/>
                </a:solidFill>
                <a:highlight>
                  <a:srgbClr val="D3C3AA"/>
                </a:highlight>
                <a:latin typeface="Comfortaa SemiBold"/>
                <a:ea typeface="Comfortaa SemiBold"/>
                <a:cs typeface="Comfortaa SemiBold"/>
                <a:sym typeface="Comfortaa SemiBold"/>
              </a:rPr>
              <a:t>Rationale:</a:t>
            </a:r>
            <a:endParaRPr>
              <a:solidFill>
                <a:schemeClr val="dk1"/>
              </a:solidFill>
              <a:highlight>
                <a:srgbClr val="D3C3AA"/>
              </a:highlight>
              <a:latin typeface="Comfortaa SemiBold"/>
              <a:ea typeface="Comfortaa SemiBold"/>
              <a:cs typeface="Comfortaa SemiBold"/>
              <a:sym typeface="Comfortaa SemiBold"/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fortaa SemiBold"/>
              <a:buChar char="○"/>
            </a:pPr>
            <a:r>
              <a:rPr lang="en-GB" sz="1800">
                <a:solidFill>
                  <a:schemeClr val="dk1"/>
                </a:solidFill>
                <a:highlight>
                  <a:srgbClr val="D3C3AA"/>
                </a:highlight>
                <a:latin typeface="Comfortaa SemiBold"/>
                <a:ea typeface="Comfortaa SemiBold"/>
                <a:cs typeface="Comfortaa SemiBold"/>
                <a:sym typeface="Comfortaa SemiBold"/>
              </a:rPr>
              <a:t>Lumen supports fairer attention, explainable public-interest information, and partnerships across humanitarian data, journalism and funding actors.</a:t>
            </a:r>
            <a:endParaRPr sz="1800">
              <a:solidFill>
                <a:schemeClr val="dk1"/>
              </a:solidFill>
              <a:highlight>
                <a:srgbClr val="D3C3AA"/>
              </a:highlight>
              <a:latin typeface="Comfortaa SemiBold"/>
              <a:ea typeface="Comfortaa SemiBold"/>
              <a:cs typeface="Comfortaa SemiBold"/>
              <a:sym typeface="Comfortaa SemiBold"/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endParaRPr>
              <a:solidFill>
                <a:schemeClr val="dk1"/>
              </a:solidFill>
              <a:highlight>
                <a:schemeClr val="lt1"/>
              </a:highlight>
              <a:latin typeface="Comfortaa SemiBold"/>
              <a:ea typeface="Comfortaa SemiBold"/>
              <a:cs typeface="Comfortaa SemiBold"/>
              <a:sym typeface="Comfortaa SemiBold"/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852"/>
              <a:buNone/>
            </a:pPr>
            <a:endParaRPr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54094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Picture 88" descr="Screenshot From 2026-07-26 00-44-4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1700" y="1310916"/>
            <a:ext cx="4362300" cy="2521667"/>
          </a:xfrm>
          <a:prstGeom prst="rect">
            <a:avLst/>
          </a:prstGeom>
        </p:spPr>
      </p:pic>
      <p:sp>
        <p:nvSpPr>
          <p:cNvPr id="85" name="Google Shape;85;p5"/>
          <p:cNvSpPr txBox="1">
            <a:spLocks noGrp="1"/>
          </p:cNvSpPr>
          <p:nvPr>
            <p:ph type="title"/>
          </p:nvPr>
        </p:nvSpPr>
        <p:spPr>
          <a:xfrm>
            <a:off x="120650" y="1952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Data Collection and Preprocessing: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" name="Google Shape;86;p5"/>
          <p:cNvSpPr txBox="1">
            <a:spLocks noGrp="1"/>
          </p:cNvSpPr>
          <p:nvPr>
            <p:ph type="body" idx="1"/>
          </p:nvPr>
        </p:nvSpPr>
        <p:spPr>
          <a:xfrm>
            <a:off x="260250" y="694425"/>
            <a:ext cx="5904600" cy="164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GB" sz="1300">
                <a:solidFill>
                  <a:schemeClr val="dk1"/>
                </a:solidFill>
                <a:highlight>
                  <a:srgbClr val="ADC2BB"/>
                </a:highlight>
                <a:latin typeface="Comfortaa SemiBold"/>
                <a:ea typeface="Comfortaa SemiBold"/>
                <a:cs typeface="Comfortaa SemiBold"/>
                <a:sym typeface="Comfortaa SemiBold"/>
              </a:rPr>
              <a:t>Data Sources:</a:t>
            </a:r>
            <a:endParaRPr sz="1300">
              <a:solidFill>
                <a:schemeClr val="dk1"/>
              </a:solidFill>
              <a:highlight>
                <a:srgbClr val="ADC2BB"/>
              </a:highlight>
              <a:latin typeface="Comfortaa SemiBold"/>
              <a:ea typeface="Comfortaa SemiBold"/>
              <a:cs typeface="Comfortaa SemiBold"/>
              <a:sym typeface="Comfortaa SemiBold"/>
            </a:endParaRPr>
          </a:p>
          <a:p>
            <a:pPr marL="457200" lvl="0" indent="-31115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omfortaa SemiBold"/>
              <a:buChar char="●"/>
            </a:pPr>
            <a:r>
              <a:rPr lang="en-GB" sz="1300">
                <a:solidFill>
                  <a:schemeClr val="dk1"/>
                </a:solidFill>
                <a:highlight>
                  <a:srgbClr val="ADC2BB"/>
                </a:highlight>
                <a:latin typeface="Comfortaa SemiBold"/>
                <a:ea typeface="Comfortaa SemiBold"/>
                <a:cs typeface="Comfortaa SemiBold"/>
                <a:sym typeface="Comfortaa SemiBold"/>
              </a:rPr>
              <a:t>UNHCR displacement; OCHA FTS appeals and funding.</a:t>
            </a:r>
            <a:endParaRPr sz="1300">
              <a:solidFill>
                <a:schemeClr val="dk1"/>
              </a:solidFill>
              <a:highlight>
                <a:srgbClr val="ADC2BB"/>
              </a:highlight>
              <a:latin typeface="Comfortaa SemiBold"/>
              <a:ea typeface="Comfortaa SemiBold"/>
              <a:cs typeface="Comfortaa SemiBold"/>
              <a:sym typeface="Comfortaa SemiBold"/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GB" sz="1300">
                <a:solidFill>
                  <a:schemeClr val="dk1"/>
                </a:solidFill>
                <a:highlight>
                  <a:srgbClr val="ADC2BB"/>
                </a:highlight>
                <a:latin typeface="Comfortaa SemiBold"/>
                <a:ea typeface="Comfortaa SemiBold"/>
                <a:cs typeface="Comfortaa SemiBold"/>
                <a:sym typeface="Comfortaa SemiBold"/>
              </a:rPr>
              <a:t>Coverage and Disaster Signals:</a:t>
            </a:r>
            <a:endParaRPr sz="1300">
              <a:solidFill>
                <a:schemeClr val="dk1"/>
              </a:solidFill>
              <a:highlight>
                <a:srgbClr val="ADC2BB"/>
              </a:highlight>
              <a:latin typeface="Comfortaa SemiBold"/>
              <a:ea typeface="Comfortaa SemiBold"/>
              <a:cs typeface="Comfortaa SemiBold"/>
              <a:sym typeface="Comfortaa SemiBold"/>
            </a:endParaRPr>
          </a:p>
          <a:p>
            <a:pPr marL="457200" lvl="0" indent="-31115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omfortaa SemiBold"/>
              <a:buChar char="●"/>
            </a:pPr>
            <a:r>
              <a:rPr lang="en-GB" sz="1300">
                <a:solidFill>
                  <a:schemeClr val="dk1"/>
                </a:solidFill>
                <a:highlight>
                  <a:srgbClr val="ADC2BB"/>
                </a:highlight>
                <a:latin typeface="Comfortaa SemiBold"/>
                <a:ea typeface="Comfortaa SemiBold"/>
                <a:cs typeface="Comfortaa SemiBold"/>
                <a:sym typeface="Comfortaa SemiBold"/>
              </a:rPr>
              <a:t>GDELT media volume; ReliefWeb active disasters.</a:t>
            </a:r>
            <a:endParaRPr sz="1300">
              <a:solidFill>
                <a:schemeClr val="dk1"/>
              </a:solidFill>
              <a:highlight>
                <a:srgbClr val="ADC2BB"/>
              </a:highlight>
              <a:latin typeface="Comfortaa SemiBold"/>
              <a:ea typeface="Comfortaa SemiBold"/>
              <a:cs typeface="Comfortaa SemiBold"/>
              <a:sym typeface="Comfortaa SemiBold"/>
            </a:endParaRPr>
          </a:p>
          <a:p>
            <a:pPr marL="457200" lvl="0" indent="-31115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omfortaa SemiBold"/>
              <a:buChar char="●"/>
            </a:pPr>
            <a:r>
              <a:rPr lang="en-GB" sz="1300">
                <a:solidFill>
                  <a:schemeClr val="dk1"/>
                </a:solidFill>
                <a:highlight>
                  <a:srgbClr val="ADC2BB"/>
                </a:highlight>
                <a:latin typeface="Comfortaa SemiBold"/>
                <a:ea typeface="Comfortaa SemiBold"/>
                <a:cs typeface="Comfortaa SemiBold"/>
                <a:sym typeface="Comfortaa SemiBold"/>
              </a:rPr>
              <a:t>Daily adapters apply timeout, pacing, retry and validation.</a:t>
            </a:r>
            <a:endParaRPr sz="1300">
              <a:solidFill>
                <a:schemeClr val="dk1"/>
              </a:solidFill>
              <a:highlight>
                <a:srgbClr val="ADC2BB"/>
              </a:highlight>
              <a:latin typeface="Comfortaa SemiBold"/>
              <a:ea typeface="Comfortaa SemiBold"/>
              <a:cs typeface="Comfortaa SemiBold"/>
              <a:sym typeface="Comfortaa SemiBold"/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275"/>
              <a:buNone/>
            </a:pPr>
            <a:endParaRPr sz="1300">
              <a:highlight>
                <a:schemeClr val="lt1"/>
              </a:highlight>
            </a:endParaRPr>
          </a:p>
        </p:txBody>
      </p:sp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120650" y="2674625"/>
            <a:ext cx="6419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Evidence Storage and Preparation: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311700" y="3144450"/>
            <a:ext cx="5801700" cy="15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 b="1">
                <a:solidFill>
                  <a:schemeClr val="dk1"/>
                </a:solidFill>
                <a:highlight>
                  <a:srgbClr val="ACC2BA"/>
                </a:highlight>
                <a:latin typeface="Comfortaa"/>
                <a:ea typeface="Comfortaa"/>
                <a:cs typeface="Comfortaa"/>
                <a:sym typeface="Comfortaa"/>
              </a:rPr>
              <a:t>Observation Store:</a:t>
            </a:r>
            <a:endParaRPr sz="1300" b="1">
              <a:solidFill>
                <a:schemeClr val="dk1"/>
              </a:solidFill>
              <a:highlight>
                <a:srgbClr val="ACC2BA"/>
              </a:highlight>
              <a:latin typeface="Comfortaa"/>
              <a:ea typeface="Comfortaa"/>
              <a:cs typeface="Comfortaa"/>
              <a:sym typeface="Comfortaa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omfortaa"/>
              <a:buChar char="●"/>
            </a:pPr>
            <a:r>
              <a:rPr lang="en-GB" sz="1300" b="1">
                <a:solidFill>
                  <a:schemeClr val="dk1"/>
                </a:solidFill>
                <a:highlight>
                  <a:srgbClr val="ACC2BA"/>
                </a:highlight>
                <a:latin typeface="Comfortaa"/>
                <a:ea typeface="Comfortaa"/>
                <a:cs typeface="Comfortaa"/>
                <a:sym typeface="Comfortaa"/>
              </a:rPr>
              <a:t>Raw readings are saved in PostgreSQL before scoring.</a:t>
            </a:r>
            <a:endParaRPr sz="1300" b="1">
              <a:solidFill>
                <a:schemeClr val="dk1"/>
              </a:solidFill>
              <a:highlight>
                <a:srgbClr val="ACC2BA"/>
              </a:highlight>
              <a:latin typeface="Comfortaa"/>
              <a:ea typeface="Comfortaa"/>
              <a:cs typeface="Comfortaa"/>
              <a:sym typeface="Comfortaa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 b="1">
                <a:solidFill>
                  <a:schemeClr val="dk1"/>
                </a:solidFill>
                <a:highlight>
                  <a:srgbClr val="ACC2BA"/>
                </a:highlight>
                <a:latin typeface="Comfortaa"/>
                <a:ea typeface="Comfortaa"/>
                <a:cs typeface="Comfortaa"/>
                <a:sym typeface="Comfortaa"/>
              </a:rPr>
              <a:t>Preparation:</a:t>
            </a:r>
            <a:endParaRPr sz="1300" b="1">
              <a:solidFill>
                <a:schemeClr val="dk1"/>
              </a:solidFill>
              <a:highlight>
                <a:srgbClr val="ACC2BA"/>
              </a:highlight>
              <a:latin typeface="Comfortaa"/>
              <a:ea typeface="Comfortaa"/>
              <a:cs typeface="Comfortaa"/>
              <a:sym typeface="Comfortaa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omfortaa"/>
              <a:buChar char="●"/>
            </a:pPr>
            <a:r>
              <a:rPr lang="en-GB" sz="1300" b="1">
                <a:solidFill>
                  <a:schemeClr val="dk1"/>
                </a:solidFill>
                <a:highlight>
                  <a:srgbClr val="ACC2BA"/>
                </a:highlight>
                <a:latin typeface="Comfortaa"/>
                <a:ea typeface="Comfortaa"/>
                <a:cs typeface="Comfortaa"/>
                <a:sym typeface="Comfortaa"/>
              </a:rPr>
              <a:t>ISO3 mapping, parsing, log transform and missing-data handling.</a:t>
            </a:r>
            <a:endParaRPr sz="1300" b="1">
              <a:solidFill>
                <a:schemeClr val="dk1"/>
              </a:solidFill>
              <a:highlight>
                <a:srgbClr val="ACC2BA"/>
              </a:highlight>
              <a:latin typeface="Comfortaa"/>
              <a:ea typeface="Comfortaa"/>
              <a:cs typeface="Comfortaa"/>
              <a:sym typeface="Comfortaa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endParaRPr sz="130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2CDC0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Picture 95" descr="Screenshot From 2026-07-26 00-44-4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7200" y="1162211"/>
            <a:ext cx="4876800" cy="2819078"/>
          </a:xfrm>
          <a:prstGeom prst="rect">
            <a:avLst/>
          </a:prstGeom>
        </p:spPr>
      </p:pic>
      <p:sp>
        <p:nvSpPr>
          <p:cNvPr id="94" name="Google Shape;94;p6"/>
          <p:cNvSpPr txBox="1">
            <a:spLocks noGrp="1"/>
          </p:cNvSpPr>
          <p:nvPr>
            <p:ph type="title"/>
          </p:nvPr>
        </p:nvSpPr>
        <p:spPr>
          <a:xfrm>
            <a:off x="311700" y="2713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Attention-Gap Scoring Engine: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" name="Google Shape;95;p6"/>
          <p:cNvSpPr txBox="1">
            <a:spLocks noGrp="1"/>
          </p:cNvSpPr>
          <p:nvPr>
            <p:ph type="body" idx="1"/>
          </p:nvPr>
        </p:nvSpPr>
        <p:spPr>
          <a:xfrm>
            <a:off x="311700" y="116582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lang="en-GB" sz="1399" b="1">
                <a:solidFill>
                  <a:schemeClr val="dk1"/>
                </a:solidFill>
                <a:highlight>
                  <a:srgbClr val="C2CDC0"/>
                </a:highlight>
                <a:latin typeface="Comfortaa"/>
                <a:ea typeface="Comfortaa"/>
                <a:cs typeface="Comfortaa"/>
                <a:sym typeface="Comfortaa"/>
              </a:rPr>
              <a:t>Algorithm:</a:t>
            </a:r>
            <a:endParaRPr sz="1399" b="1">
              <a:solidFill>
                <a:schemeClr val="dk1"/>
              </a:solidFill>
              <a:highlight>
                <a:srgbClr val="C2CDC0"/>
              </a:highlight>
              <a:latin typeface="Comfortaa"/>
              <a:ea typeface="Comfortaa"/>
              <a:cs typeface="Comfortaa"/>
              <a:sym typeface="Comfortaa"/>
            </a:endParaRPr>
          </a:p>
          <a:p>
            <a:pPr marL="457200" lvl="0" indent="-309916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81"/>
              <a:buFont typeface="Comfortaa SemiBold"/>
              <a:buChar char="●"/>
            </a:pPr>
            <a:r>
              <a:rPr lang="en-GB" sz="1280">
                <a:solidFill>
                  <a:schemeClr val="dk1"/>
                </a:solidFill>
                <a:highlight>
                  <a:srgbClr val="C2CDC0"/>
                </a:highlight>
                <a:latin typeface="Comfortaa SemiBold"/>
                <a:ea typeface="Comfortaa SemiBold"/>
                <a:cs typeface="Comfortaa SemiBold"/>
                <a:sym typeface="Comfortaa SemiBold"/>
              </a:rPr>
              <a:t>Need Score</a:t>
            </a:r>
            <a:endParaRPr sz="1280">
              <a:solidFill>
                <a:schemeClr val="dk1"/>
              </a:solidFill>
              <a:highlight>
                <a:srgbClr val="C2CDC0"/>
              </a:highlight>
              <a:latin typeface="Comfortaa SemiBold"/>
              <a:ea typeface="Comfortaa SemiBold"/>
              <a:cs typeface="Comfortaa SemiBold"/>
              <a:sym typeface="Comfortaa SemiBold"/>
            </a:endParaRPr>
          </a:p>
          <a:p>
            <a:pPr marL="914400" lvl="1" indent="-309916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1"/>
              <a:buFont typeface="Comfortaa SemiBold"/>
              <a:buChar char="○"/>
            </a:pPr>
            <a:r>
              <a:rPr lang="en-GB" sz="1280">
                <a:solidFill>
                  <a:schemeClr val="dk1"/>
                </a:solidFill>
                <a:highlight>
                  <a:srgbClr val="C2CDC0"/>
                </a:highlight>
                <a:latin typeface="Comfortaa SemiBold"/>
                <a:ea typeface="Comfortaa SemiBold"/>
                <a:cs typeface="Comfortaa SemiBold"/>
                <a:sym typeface="Comfortaa SemiBold"/>
              </a:rPr>
              <a:t>Displacement 50%, appeal size 30%, active disasters 20%.</a:t>
            </a:r>
            <a:endParaRPr sz="1280">
              <a:solidFill>
                <a:schemeClr val="dk1"/>
              </a:solidFill>
              <a:highlight>
                <a:srgbClr val="C2CDC0"/>
              </a:highlight>
              <a:latin typeface="Comfortaa SemiBold"/>
              <a:ea typeface="Comfortaa SemiBold"/>
              <a:cs typeface="Comfortaa SemiBold"/>
              <a:sym typeface="Comfortaa SemiBold"/>
            </a:endParaRPr>
          </a:p>
          <a:p>
            <a:pPr marL="914400" lvl="1" indent="-309916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1"/>
              <a:buFont typeface="Comfortaa SemiBold"/>
              <a:buChar char="○"/>
            </a:pPr>
            <a:r>
              <a:rPr lang="en-GB" sz="1280">
                <a:solidFill>
                  <a:schemeClr val="dk1"/>
                </a:solidFill>
                <a:highlight>
                  <a:srgbClr val="C2CDC0"/>
                </a:highlight>
                <a:latin typeface="Comfortaa SemiBold"/>
                <a:ea typeface="Comfortaa SemiBold"/>
                <a:cs typeface="Comfortaa SemiBold"/>
                <a:sym typeface="Comfortaa SemiBold"/>
              </a:rPr>
              <a:t>Missing components are dropped and remaining weights re-normalized.</a:t>
            </a:r>
            <a:endParaRPr sz="1280">
              <a:solidFill>
                <a:schemeClr val="dk1"/>
              </a:solidFill>
              <a:highlight>
                <a:srgbClr val="C2CDC0"/>
              </a:highlight>
              <a:latin typeface="Comfortaa SemiBold"/>
              <a:ea typeface="Comfortaa SemiBold"/>
              <a:cs typeface="Comfortaa SemiBold"/>
              <a:sym typeface="Comfortaa SemiBold"/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lang="en-GB" sz="1399" b="1">
                <a:solidFill>
                  <a:schemeClr val="dk1"/>
                </a:solidFill>
                <a:highlight>
                  <a:srgbClr val="C2CDC0"/>
                </a:highlight>
                <a:latin typeface="Comfortaa"/>
                <a:ea typeface="Comfortaa"/>
                <a:cs typeface="Comfortaa"/>
                <a:sym typeface="Comfortaa"/>
              </a:rPr>
              <a:t>Coverage and Funding:</a:t>
            </a:r>
            <a:endParaRPr sz="1399" b="1">
              <a:solidFill>
                <a:schemeClr val="dk1"/>
              </a:solidFill>
              <a:highlight>
                <a:srgbClr val="C2CDC0"/>
              </a:highlight>
              <a:latin typeface="Comfortaa"/>
              <a:ea typeface="Comfortaa"/>
              <a:cs typeface="Comfortaa"/>
              <a:sym typeface="Comfortaa"/>
            </a:endParaRPr>
          </a:p>
          <a:p>
            <a:pPr marL="457200" lvl="0" indent="-309916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81"/>
              <a:buFont typeface="Comfortaa SemiBold"/>
              <a:buChar char="●"/>
            </a:pPr>
            <a:r>
              <a:rPr lang="en-GB" sz="1280">
                <a:solidFill>
                  <a:schemeClr val="dk1"/>
                </a:solidFill>
                <a:highlight>
                  <a:srgbClr val="C2CDC0"/>
                </a:highlight>
                <a:latin typeface="Comfortaa SemiBold"/>
                <a:ea typeface="Comfortaa SemiBold"/>
                <a:cs typeface="Comfortaa SemiBold"/>
                <a:sym typeface="Comfortaa SemiBold"/>
              </a:rPr>
              <a:t>GDELT estimates coverage; OCHA FTS supplies the funding gap.</a:t>
            </a:r>
            <a:endParaRPr sz="1280">
              <a:solidFill>
                <a:schemeClr val="dk1"/>
              </a:solidFill>
              <a:highlight>
                <a:srgbClr val="C2CDC0"/>
              </a:highlight>
              <a:latin typeface="Comfortaa SemiBold"/>
              <a:ea typeface="Comfortaa SemiBold"/>
              <a:cs typeface="Comfortaa SemiBold"/>
              <a:sym typeface="Comfortaa SemiBold"/>
            </a:endParaRPr>
          </a:p>
          <a:p>
            <a:pPr marL="457200" lvl="0" indent="-309916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1"/>
              <a:buFont typeface="Comfortaa SemiBold"/>
              <a:buChar char="●"/>
            </a:pPr>
            <a:r>
              <a:rPr lang="en-GB" sz="1280">
                <a:solidFill>
                  <a:schemeClr val="dk1"/>
                </a:solidFill>
                <a:highlight>
                  <a:srgbClr val="C2CDC0"/>
                </a:highlight>
                <a:latin typeface="Comfortaa SemiBold"/>
                <a:ea typeface="Comfortaa SemiBold"/>
                <a:cs typeface="Comfortaa SemiBold"/>
                <a:sym typeface="Comfortaa SemiBold"/>
              </a:rPr>
              <a:t>Formula v1.1.0:</a:t>
            </a:r>
            <a:endParaRPr sz="1280">
              <a:solidFill>
                <a:schemeClr val="dk1"/>
              </a:solidFill>
              <a:highlight>
                <a:srgbClr val="C2CDC0"/>
              </a:highlight>
              <a:latin typeface="Comfortaa SemiBold"/>
              <a:ea typeface="Comfortaa SemiBold"/>
              <a:cs typeface="Comfortaa SemiBold"/>
              <a:sym typeface="Comfortaa SemiBold"/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lang="en-GB" sz="1399" b="1">
                <a:solidFill>
                  <a:schemeClr val="dk1"/>
                </a:solidFill>
                <a:highlight>
                  <a:srgbClr val="C2CDC0"/>
                </a:highlight>
                <a:latin typeface="Comfortaa"/>
                <a:ea typeface="Comfortaa"/>
                <a:cs typeface="Comfortaa"/>
                <a:sym typeface="Comfortaa"/>
              </a:rPr>
              <a:t>(need − coverage) × (1 + 0.5 × funding gap) + 0.3 × funding gap</a:t>
            </a:r>
            <a:endParaRPr sz="1399" b="1">
              <a:solidFill>
                <a:schemeClr val="dk1"/>
              </a:solidFill>
              <a:highlight>
                <a:srgbClr val="C2CDC0"/>
              </a:highlight>
              <a:latin typeface="Comfortaa"/>
              <a:ea typeface="Comfortaa"/>
              <a:cs typeface="Comfortaa"/>
              <a:sym typeface="Comfortaa"/>
            </a:endParaRPr>
          </a:p>
          <a:p>
            <a:pPr marL="457200" lvl="0" indent="-309916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81"/>
              <a:buFont typeface="Comfortaa SemiBold"/>
              <a:buChar char="●"/>
            </a:pPr>
            <a:r>
              <a:rPr lang="en-GB" sz="1280">
                <a:solidFill>
                  <a:schemeClr val="dk1"/>
                </a:solidFill>
                <a:highlight>
                  <a:srgbClr val="C2CDC0"/>
                </a:highlight>
                <a:latin typeface="Comfortaa SemiBold"/>
                <a:ea typeface="Comfortaa SemiBold"/>
                <a:cs typeface="Comfortaa SemiBold"/>
                <a:sym typeface="Comfortaa SemiBold"/>
              </a:rPr>
              <a:t>Versioned inputs make every result explainable and replayable.</a:t>
            </a:r>
            <a:endParaRPr sz="1280">
              <a:solidFill>
                <a:schemeClr val="dk1"/>
              </a:solidFill>
              <a:highlight>
                <a:srgbClr val="C2CDC0"/>
              </a:highlight>
              <a:latin typeface="Comfortaa SemiBold"/>
              <a:ea typeface="Comfortaa SemiBold"/>
              <a:cs typeface="Comfortaa SemiBold"/>
              <a:sym typeface="Comfortaa SemiBold"/>
            </a:endParaRPr>
          </a:p>
          <a:p>
            <a:pPr marL="45720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endParaRPr sz="805" b="1">
              <a:solidFill>
                <a:schemeClr val="dk1"/>
              </a:solidFill>
              <a:highlight>
                <a:srgbClr val="C2CDC0"/>
              </a:highlight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605"/>
              <a:buNone/>
            </a:pPr>
            <a:endParaRPr sz="1190">
              <a:highlight>
                <a:srgbClr val="C2CDC0"/>
              </a:highlight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4E59"/>
        </a:solid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Picture 102" descr="Screenshot From 2026-07-26 00-44-1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7200" y="1162211"/>
            <a:ext cx="4876800" cy="2819078"/>
          </a:xfrm>
          <a:prstGeom prst="rect">
            <a:avLst/>
          </a:prstGeom>
        </p:spPr>
      </p:pic>
      <p:sp>
        <p:nvSpPr>
          <p:cNvPr id="101" name="Google Shape;101;p7"/>
          <p:cNvSpPr txBox="1">
            <a:spLocks noGrp="1"/>
          </p:cNvSpPr>
          <p:nvPr>
            <p:ph type="title"/>
          </p:nvPr>
        </p:nvSpPr>
        <p:spPr>
          <a:xfrm>
            <a:off x="178100" y="2847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 b="1">
                <a:solidFill>
                  <a:schemeClr val="lt2"/>
                </a:solidFill>
                <a:latin typeface="Lexend"/>
                <a:ea typeface="Lexend"/>
                <a:cs typeface="Lexend"/>
                <a:sym typeface="Lexend"/>
              </a:rPr>
              <a:t>Validation and Reliability:</a:t>
            </a:r>
            <a:endParaRPr b="1">
              <a:solidFill>
                <a:schemeClr val="lt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" name="Google Shape;102;p7"/>
          <p:cNvSpPr txBox="1">
            <a:spLocks noGrp="1"/>
          </p:cNvSpPr>
          <p:nvPr>
            <p:ph type="body" idx="1"/>
          </p:nvPr>
        </p:nvSpPr>
        <p:spPr>
          <a:xfrm>
            <a:off x="178100" y="938725"/>
            <a:ext cx="8520600" cy="39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lang="en-GB" sz="1417">
                <a:solidFill>
                  <a:srgbClr val="F3F3F3"/>
                </a:solidFill>
                <a:highlight>
                  <a:srgbClr val="224E59"/>
                </a:highlight>
                <a:latin typeface="Comfortaa SemiBold"/>
                <a:ea typeface="Comfortaa SemiBold"/>
                <a:cs typeface="Comfortaa SemiBold"/>
                <a:sym typeface="Comfortaa SemiBold"/>
              </a:rPr>
              <a:t>Verification:</a:t>
            </a:r>
            <a:endParaRPr sz="1417">
              <a:solidFill>
                <a:srgbClr val="F3F3F3"/>
              </a:solidFill>
              <a:highlight>
                <a:srgbClr val="224E59"/>
              </a:highlight>
              <a:latin typeface="Comfortaa SemiBold"/>
              <a:ea typeface="Comfortaa SemiBold"/>
              <a:cs typeface="Comfortaa SemiBold"/>
              <a:sym typeface="Comfortaa SemiBold"/>
            </a:endParaRPr>
          </a:p>
          <a:p>
            <a:pPr marL="457200" lvl="0" indent="-312261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F3F3F3"/>
              </a:buClr>
              <a:buSzPts val="1318"/>
              <a:buChar char="●"/>
            </a:pPr>
            <a:r>
              <a:rPr lang="en-GB" sz="1317">
                <a:solidFill>
                  <a:srgbClr val="F3F3F3"/>
                </a:solidFill>
                <a:highlight>
                  <a:srgbClr val="224E59"/>
                </a:highlight>
                <a:latin typeface="Comfortaa SemiBold"/>
                <a:ea typeface="Comfortaa SemiBold"/>
                <a:cs typeface="Comfortaa SemiBold"/>
                <a:sym typeface="Comfortaa SemiBold"/>
              </a:rPr>
              <a:t>39 scoring unit tests cover normalization, missing data and edge cases.</a:t>
            </a:r>
            <a:endParaRPr sz="1317">
              <a:solidFill>
                <a:srgbClr val="F3F3F3"/>
              </a:solidFill>
              <a:highlight>
                <a:srgbClr val="224E59"/>
              </a:highlight>
              <a:latin typeface="Comfortaa SemiBold"/>
              <a:ea typeface="Comfortaa SemiBold"/>
              <a:cs typeface="Comfortaa SemiBold"/>
              <a:sym typeface="Comfortaa SemiBold"/>
            </a:endParaRPr>
          </a:p>
          <a:p>
            <a:pPr marL="457200" lvl="0" indent="-312261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318"/>
              <a:buChar char="●"/>
            </a:pPr>
            <a:r>
              <a:rPr lang="en-GB" sz="1317">
                <a:solidFill>
                  <a:srgbClr val="F3F3F3"/>
                </a:solidFill>
                <a:highlight>
                  <a:srgbClr val="224E59"/>
                </a:highlight>
                <a:latin typeface="Comfortaa SemiBold"/>
                <a:ea typeface="Comfortaa SemiBold"/>
                <a:cs typeface="Comfortaa SemiBold"/>
                <a:sym typeface="Comfortaa SemiBold"/>
              </a:rPr>
              <a:t>API integration tests run against PostgreSQL.</a:t>
            </a:r>
            <a:endParaRPr sz="1317">
              <a:solidFill>
                <a:srgbClr val="F3F3F3"/>
              </a:solidFill>
              <a:highlight>
                <a:srgbClr val="224E59"/>
              </a:highlight>
              <a:latin typeface="Comfortaa SemiBold"/>
              <a:ea typeface="Comfortaa SemiBold"/>
              <a:cs typeface="Comfortaa SemiBold"/>
              <a:sym typeface="Comfortaa SemiBold"/>
            </a:endParaRPr>
          </a:p>
          <a:p>
            <a:pPr marL="457200" lvl="0" indent="-312261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318"/>
              <a:buChar char="●"/>
            </a:pPr>
            <a:r>
              <a:rPr lang="en-GB" sz="1317">
                <a:solidFill>
                  <a:srgbClr val="F3F3F3"/>
                </a:solidFill>
                <a:highlight>
                  <a:srgbClr val="224E59"/>
                </a:highlight>
                <a:latin typeface="Comfortaa SemiBold"/>
                <a:ea typeface="Comfortaa SemiBold"/>
                <a:cs typeface="Comfortaa SemiBold"/>
                <a:sym typeface="Comfortaa SemiBold"/>
              </a:rPr>
              <a:t>CI checks tests, types, web build, migrations and committed secrets.</a:t>
            </a:r>
            <a:endParaRPr sz="1317">
              <a:solidFill>
                <a:srgbClr val="F3F3F3"/>
              </a:solidFill>
              <a:highlight>
                <a:srgbClr val="224E59"/>
              </a:highlight>
              <a:latin typeface="Comfortaa SemiBold"/>
              <a:ea typeface="Comfortaa SemiBold"/>
              <a:cs typeface="Comfortaa SemiBold"/>
              <a:sym typeface="Comfortaa SemiBold"/>
            </a:endParaRPr>
          </a:p>
          <a:p>
            <a:pPr marL="457200" lvl="0" indent="-312261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318"/>
              <a:buChar char="●"/>
            </a:pPr>
            <a:r>
              <a:rPr lang="en-GB" sz="1317">
                <a:solidFill>
                  <a:srgbClr val="F3F3F3"/>
                </a:solidFill>
                <a:highlight>
                  <a:srgbClr val="224E59"/>
                </a:highlight>
                <a:latin typeface="Comfortaa SemiBold"/>
                <a:ea typeface="Comfortaa SemiBold"/>
                <a:cs typeface="Comfortaa SemiBold"/>
                <a:sym typeface="Comfortaa SemiBold"/>
              </a:rPr>
              <a:t>Live-Data Result:</a:t>
            </a:r>
            <a:endParaRPr sz="1317">
              <a:solidFill>
                <a:srgbClr val="F3F3F3"/>
              </a:solidFill>
              <a:highlight>
                <a:srgbClr val="224E59"/>
              </a:highlight>
              <a:latin typeface="Comfortaa SemiBold"/>
              <a:ea typeface="Comfortaa SemiBold"/>
              <a:cs typeface="Comfortaa SemiBold"/>
              <a:sym typeface="Comfortaa SemiBold"/>
            </a:endParaRPr>
          </a:p>
          <a:p>
            <a:pPr marL="457200" lvl="0" indent="-312261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318"/>
              <a:buChar char="●"/>
            </a:pPr>
            <a:r>
              <a:rPr lang="en-GB" sz="1317">
                <a:solidFill>
                  <a:srgbClr val="F3F3F3"/>
                </a:solidFill>
                <a:highlight>
                  <a:srgbClr val="224E59"/>
                </a:highlight>
                <a:latin typeface="Comfortaa SemiBold"/>
                <a:ea typeface="Comfortaa SemiBold"/>
                <a:cs typeface="Comfortaa SemiBold"/>
                <a:sym typeface="Comfortaa SemiBold"/>
              </a:rPr>
              <a:t>UNHCR and OCHA FTS successfully ranked the 26-crisis cohort.</a:t>
            </a:r>
            <a:endParaRPr sz="1317">
              <a:solidFill>
                <a:srgbClr val="F3F3F3"/>
              </a:solidFill>
              <a:highlight>
                <a:srgbClr val="224E59"/>
              </a:highlight>
              <a:latin typeface="Comfortaa SemiBold"/>
              <a:ea typeface="Comfortaa SemiBold"/>
              <a:cs typeface="Comfortaa SemiBold"/>
              <a:sym typeface="Comfortaa SemiBold"/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lang="en-GB" sz="1417">
                <a:solidFill>
                  <a:srgbClr val="F3F3F3"/>
                </a:solidFill>
                <a:highlight>
                  <a:srgbClr val="224E59"/>
                </a:highlight>
                <a:latin typeface="Comfortaa SemiBold"/>
                <a:ea typeface="Comfortaa SemiBold"/>
                <a:cs typeface="Comfortaa SemiBold"/>
                <a:sym typeface="Comfortaa SemiBold"/>
              </a:rPr>
              <a:t>Idempotent upserts prevent duplicate evidence during retries.</a:t>
            </a:r>
            <a:endParaRPr sz="1417">
              <a:solidFill>
                <a:srgbClr val="F3F3F3"/>
              </a:solidFill>
              <a:highlight>
                <a:srgbClr val="224E59"/>
              </a:highlight>
              <a:latin typeface="Comfortaa SemiBold"/>
              <a:ea typeface="Comfortaa SemiBold"/>
              <a:cs typeface="Comfortaa SemiBold"/>
              <a:sym typeface="Comfortaa SemiBold"/>
            </a:endParaRPr>
          </a:p>
          <a:p>
            <a:pPr marL="457200" lvl="0" indent="-312261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F3F3F3"/>
              </a:buClr>
              <a:buSzPts val="1318"/>
              <a:buFont typeface="Comfortaa SemiBold"/>
              <a:buChar char="●"/>
            </a:pPr>
            <a:r>
              <a:rPr lang="en-GB" sz="1317">
                <a:solidFill>
                  <a:srgbClr val="F3F3F3"/>
                </a:solidFill>
                <a:highlight>
                  <a:srgbClr val="224E59"/>
                </a:highlight>
                <a:latin typeface="Comfortaa SemiBold"/>
                <a:ea typeface="Comfortaa SemiBold"/>
                <a:cs typeface="Comfortaa SemiBold"/>
                <a:sym typeface="Comfortaa SemiBold"/>
              </a:rPr>
              <a:t>Grounding Controls:</a:t>
            </a:r>
            <a:endParaRPr sz="1317">
              <a:solidFill>
                <a:srgbClr val="F3F3F3"/>
              </a:solidFill>
              <a:highlight>
                <a:srgbClr val="224E59"/>
              </a:highlight>
              <a:latin typeface="Comfortaa SemiBold"/>
              <a:ea typeface="Comfortaa SemiBold"/>
              <a:cs typeface="Comfortaa SemiBold"/>
              <a:sym typeface="Comfortaa SemiBold"/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lang="en-GB" sz="1417">
                <a:solidFill>
                  <a:srgbClr val="F3F3F3"/>
                </a:solidFill>
                <a:highlight>
                  <a:srgbClr val="224E59"/>
                </a:highlight>
                <a:latin typeface="Comfortaa SemiBold"/>
                <a:ea typeface="Comfortaa SemiBold"/>
                <a:cs typeface="Comfortaa SemiBold"/>
                <a:sym typeface="Comfortaa SemiBold"/>
              </a:rPr>
              <a:t>Numeric facts are rendered directly from stored score inputs.</a:t>
            </a:r>
            <a:endParaRPr sz="1417">
              <a:solidFill>
                <a:srgbClr val="F3F3F3"/>
              </a:solidFill>
              <a:highlight>
                <a:srgbClr val="224E59"/>
              </a:highlight>
              <a:latin typeface="Comfortaa SemiBold"/>
              <a:ea typeface="Comfortaa SemiBold"/>
              <a:cs typeface="Comfortaa SemiBold"/>
              <a:sym typeface="Comfortaa SemiBold"/>
            </a:endParaRPr>
          </a:p>
          <a:p>
            <a:pPr marL="457200" lvl="0" indent="-312261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F3F3F3"/>
              </a:buClr>
              <a:buSzPts val="1318"/>
              <a:buFont typeface="Comfortaa SemiBold"/>
              <a:buChar char="●"/>
            </a:pPr>
            <a:r>
              <a:rPr lang="en-GB" sz="1317">
                <a:solidFill>
                  <a:srgbClr val="F3F3F3"/>
                </a:solidFill>
                <a:highlight>
                  <a:srgbClr val="224E59"/>
                </a:highlight>
                <a:latin typeface="Comfortaa SemiBold"/>
                <a:ea typeface="Comfortaa SemiBold"/>
                <a:cs typeface="Comfortaa SemiBold"/>
                <a:sym typeface="Comfortaa SemiBold"/>
              </a:rPr>
              <a:t>Any AI error or invented number triggers a deterministic fallback.</a:t>
            </a:r>
            <a:endParaRPr sz="1317">
              <a:solidFill>
                <a:srgbClr val="F3F3F3"/>
              </a:solidFill>
              <a:highlight>
                <a:srgbClr val="224E59"/>
              </a:highlight>
              <a:latin typeface="Comfortaa SemiBold"/>
              <a:ea typeface="Comfortaa SemiBold"/>
              <a:cs typeface="Comfortaa SemiBold"/>
              <a:sym typeface="Comfortaa SemiBold"/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1018"/>
              <a:buNone/>
            </a:pPr>
            <a:endParaRPr sz="1317">
              <a:solidFill>
                <a:srgbClr val="F3F3F3"/>
              </a:solidFill>
              <a:highlight>
                <a:srgbClr val="224E59"/>
              </a:highlight>
              <a:latin typeface="Comfortaa SemiBold"/>
              <a:ea typeface="Comfortaa SemiBold"/>
              <a:cs typeface="Comfortaa SemiBold"/>
              <a:sym typeface="Comfortaa SemiBol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5C74"/>
        </a:solid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Picture 109" descr="Screenshot From 2026-07-26 00-44-0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5600" y="1003205"/>
            <a:ext cx="4628401" cy="2675489"/>
          </a:xfrm>
          <a:prstGeom prst="rect">
            <a:avLst/>
          </a:prstGeom>
        </p:spPr>
      </p:pic>
      <p:sp>
        <p:nvSpPr>
          <p:cNvPr id="108" name="Google Shape;108;p8"/>
          <p:cNvSpPr txBox="1">
            <a:spLocks noGrp="1"/>
          </p:cNvSpPr>
          <p:nvPr>
            <p:ph type="title"/>
          </p:nvPr>
        </p:nvSpPr>
        <p:spPr>
          <a:xfrm>
            <a:off x="204825" y="2713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 b="1">
                <a:solidFill>
                  <a:schemeClr val="lt2"/>
                </a:solidFill>
                <a:latin typeface="Lexend"/>
                <a:ea typeface="Lexend"/>
                <a:cs typeface="Lexend"/>
                <a:sym typeface="Lexend"/>
              </a:rPr>
              <a:t>Tools and Resources:</a:t>
            </a:r>
            <a:endParaRPr b="1">
              <a:solidFill>
                <a:schemeClr val="lt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" name="Google Shape;109;p8"/>
          <p:cNvSpPr txBox="1">
            <a:spLocks noGrp="1"/>
          </p:cNvSpPr>
          <p:nvPr>
            <p:ph type="body" idx="1"/>
          </p:nvPr>
        </p:nvSpPr>
        <p:spPr>
          <a:xfrm>
            <a:off x="138000" y="1326075"/>
            <a:ext cx="6635400" cy="3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700" b="1">
                <a:solidFill>
                  <a:srgbClr val="F3F3F3"/>
                </a:solidFill>
                <a:highlight>
                  <a:srgbClr val="295C74"/>
                </a:highlight>
                <a:latin typeface="Comfortaa"/>
                <a:ea typeface="Comfortaa"/>
                <a:cs typeface="Comfortaa"/>
                <a:sym typeface="Comfortaa"/>
              </a:rPr>
              <a:t>Production Stack:</a:t>
            </a:r>
            <a:endParaRPr sz="1500" b="1">
              <a:solidFill>
                <a:srgbClr val="F3F3F3"/>
              </a:solidFill>
              <a:highlight>
                <a:srgbClr val="295C74"/>
              </a:highlight>
              <a:latin typeface="Comfortaa"/>
              <a:ea typeface="Comfortaa"/>
              <a:cs typeface="Comfortaa"/>
              <a:sym typeface="Comfortaa"/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Comfortaa SemiBold"/>
              <a:buChar char="●"/>
            </a:pPr>
            <a:r>
              <a:rPr lang="en-GB" sz="1400">
                <a:solidFill>
                  <a:srgbClr val="F3F3F3"/>
                </a:solidFill>
                <a:highlight>
                  <a:srgbClr val="295C74"/>
                </a:highlight>
                <a:latin typeface="Comfortaa SemiBold"/>
                <a:ea typeface="Comfortaa SemiBold"/>
                <a:cs typeface="Comfortaa SemiBold"/>
                <a:sym typeface="Comfortaa SemiBold"/>
              </a:rPr>
              <a:t>Application:</a:t>
            </a:r>
            <a:endParaRPr sz="1400">
              <a:solidFill>
                <a:srgbClr val="F3F3F3"/>
              </a:solidFill>
              <a:highlight>
                <a:srgbClr val="295C74"/>
              </a:highlight>
              <a:latin typeface="Comfortaa SemiBold"/>
              <a:ea typeface="Comfortaa SemiBold"/>
              <a:cs typeface="Comfortaa SemiBold"/>
              <a:sym typeface="Comfortaa SemiBold"/>
            </a:endParaRPr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Comfortaa SemiBold"/>
              <a:buChar char="○"/>
            </a:pPr>
            <a:r>
              <a:rPr lang="en-GB">
                <a:solidFill>
                  <a:srgbClr val="F3F3F3"/>
                </a:solidFill>
                <a:highlight>
                  <a:srgbClr val="295C74"/>
                </a:highlight>
                <a:latin typeface="Comfortaa SemiBold"/>
                <a:ea typeface="Comfortaa SemiBold"/>
                <a:cs typeface="Comfortaa SemiBold"/>
                <a:sym typeface="Comfortaa SemiBold"/>
              </a:rPr>
              <a:t>Next.js dashboard; Express and TypeScript API.</a:t>
            </a:r>
            <a:endParaRPr>
              <a:solidFill>
                <a:srgbClr val="F3F3F3"/>
              </a:solidFill>
              <a:highlight>
                <a:srgbClr val="295C74"/>
              </a:highlight>
              <a:latin typeface="Comfortaa SemiBold"/>
              <a:ea typeface="Comfortaa SemiBold"/>
              <a:cs typeface="Comfortaa SemiBold"/>
              <a:sym typeface="Comfortaa SemiBold"/>
            </a:endParaRPr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Comfortaa SemiBold"/>
              <a:buChar char="○"/>
            </a:pPr>
            <a:r>
              <a:rPr lang="en-GB">
                <a:solidFill>
                  <a:srgbClr val="F3F3F3"/>
                </a:solidFill>
                <a:highlight>
                  <a:srgbClr val="295C74"/>
                </a:highlight>
                <a:latin typeface="Comfortaa SemiBold"/>
                <a:ea typeface="Comfortaa SemiBold"/>
                <a:cs typeface="Comfortaa SemiBold"/>
                <a:sym typeface="Comfortaa SemiBold"/>
              </a:rPr>
              <a:t>Data and Orchestration:</a:t>
            </a:r>
            <a:endParaRPr>
              <a:solidFill>
                <a:srgbClr val="F3F3F3"/>
              </a:solidFill>
              <a:highlight>
                <a:srgbClr val="295C74"/>
              </a:highlight>
              <a:latin typeface="Comfortaa SemiBold"/>
              <a:ea typeface="Comfortaa SemiBold"/>
              <a:cs typeface="Comfortaa SemiBold"/>
              <a:sym typeface="Comfortaa SemiBold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Comfortaa SemiBold"/>
              <a:buChar char="●"/>
            </a:pPr>
            <a:r>
              <a:rPr lang="en-GB" sz="1400">
                <a:solidFill>
                  <a:srgbClr val="F3F3F3"/>
                </a:solidFill>
                <a:highlight>
                  <a:srgbClr val="295C74"/>
                </a:highlight>
                <a:latin typeface="Comfortaa SemiBold"/>
                <a:ea typeface="Comfortaa SemiBold"/>
                <a:cs typeface="Comfortaa SemiBold"/>
                <a:sym typeface="Comfortaa SemiBold"/>
              </a:rPr>
              <a:t>PostgreSQL 16; n8n daily scheduler; Docker Compose.</a:t>
            </a:r>
            <a:endParaRPr sz="1400">
              <a:solidFill>
                <a:srgbClr val="F3F3F3"/>
              </a:solidFill>
              <a:highlight>
                <a:srgbClr val="295C74"/>
              </a:highlight>
              <a:latin typeface="Comfortaa SemiBold"/>
              <a:ea typeface="Comfortaa SemiBold"/>
              <a:cs typeface="Comfortaa SemiBold"/>
              <a:sym typeface="Comfortaa SemiBold"/>
            </a:endParaRPr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Comfortaa SemiBold"/>
              <a:buChar char="○"/>
            </a:pPr>
            <a:r>
              <a:rPr lang="en-GB">
                <a:solidFill>
                  <a:srgbClr val="F3F3F3"/>
                </a:solidFill>
                <a:highlight>
                  <a:srgbClr val="295C74"/>
                </a:highlight>
                <a:latin typeface="Comfortaa SemiBold"/>
                <a:ea typeface="Comfortaa SemiBold"/>
                <a:cs typeface="Comfortaa SemiBold"/>
                <a:sym typeface="Comfortaa SemiBold"/>
              </a:rPr>
              <a:t>Delivery and Operations:</a:t>
            </a:r>
            <a:endParaRPr>
              <a:solidFill>
                <a:srgbClr val="F3F3F3"/>
              </a:solidFill>
              <a:highlight>
                <a:srgbClr val="295C74"/>
              </a:highlight>
              <a:latin typeface="Comfortaa SemiBold"/>
              <a:ea typeface="Comfortaa SemiBold"/>
              <a:cs typeface="Comfortaa SemiBold"/>
              <a:sym typeface="Comfortaa SemiBold"/>
            </a:endParaRPr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Comfortaa SemiBold"/>
              <a:buChar char="○"/>
            </a:pPr>
            <a:r>
              <a:rPr lang="en-GB">
                <a:solidFill>
                  <a:srgbClr val="F3F3F3"/>
                </a:solidFill>
                <a:highlight>
                  <a:srgbClr val="295C74"/>
                </a:highlight>
                <a:latin typeface="Comfortaa SemiBold"/>
                <a:ea typeface="Comfortaa SemiBold"/>
                <a:cs typeface="Comfortaa SemiBold"/>
                <a:sym typeface="Comfortaa SemiBold"/>
              </a:rPr>
              <a:t>Optional Groq, Telegram, Resend, GitHub Actions, DigitalOcean and Caddy HTTPS.</a:t>
            </a:r>
            <a:endParaRPr>
              <a:solidFill>
                <a:srgbClr val="F3F3F3"/>
              </a:solidFill>
              <a:highlight>
                <a:srgbClr val="295C74"/>
              </a:highlight>
              <a:latin typeface="Comfortaa SemiBold"/>
              <a:ea typeface="Comfortaa SemiBold"/>
              <a:cs typeface="Comfortaa SemiBold"/>
              <a:sym typeface="Comfortaa SemiBold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endParaRPr>
              <a:solidFill>
                <a:srgbClr val="F3F3F3"/>
              </a:solidFill>
              <a:highlight>
                <a:srgbClr val="295C74"/>
              </a:highlight>
              <a:latin typeface="Comfortaa SemiBold"/>
              <a:ea typeface="Comfortaa SemiBold"/>
              <a:cs typeface="Comfortaa SemiBold"/>
              <a:sym typeface="Comfortaa SemiBol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9"/>
          <p:cNvSpPr txBox="1">
            <a:spLocks noGrp="1"/>
          </p:cNvSpPr>
          <p:nvPr>
            <p:ph type="title"/>
          </p:nvPr>
        </p:nvSpPr>
        <p:spPr>
          <a:xfrm>
            <a:off x="164725" y="7094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Project Impact and Effectiveness: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" name="Google Shape;115;p9"/>
          <p:cNvSpPr txBox="1">
            <a:spLocks noGrp="1"/>
          </p:cNvSpPr>
          <p:nvPr>
            <p:ph type="body" idx="1"/>
          </p:nvPr>
        </p:nvSpPr>
        <p:spPr>
          <a:xfrm>
            <a:off x="106900" y="643650"/>
            <a:ext cx="6111300" cy="41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-GB" sz="1400" b="1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Problem Solving:</a:t>
            </a:r>
            <a:endParaRPr sz="1400" b="1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360000" lvl="0" indent="-31750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fortaa"/>
              <a:buChar char="●"/>
            </a:pPr>
            <a:r>
              <a:rPr lang="en-GB" sz="1400" b="1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For Journalists and Editors:</a:t>
            </a:r>
            <a:endParaRPr sz="1400" b="1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540000" lvl="1" indent="-304799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omfortaa SemiBold"/>
              <a:buChar char="○"/>
            </a:pPr>
            <a:r>
              <a:rPr lang="en-GB" sz="1200">
                <a:solidFill>
                  <a:schemeClr val="dk1"/>
                </a:solidFill>
                <a:latin typeface="Comfortaa SemiBold"/>
                <a:ea typeface="Comfortaa SemiBold"/>
                <a:cs typeface="Comfortaa SemiBold"/>
                <a:sym typeface="Comfortaa SemiBold"/>
              </a:rPr>
              <a:t>Highlights overlooked stories and creates ready-to-share briefs.</a:t>
            </a:r>
            <a:endParaRPr sz="1200">
              <a:solidFill>
                <a:schemeClr val="dk1"/>
              </a:solidFill>
              <a:latin typeface="Comfortaa SemiBold"/>
              <a:ea typeface="Comfortaa SemiBold"/>
              <a:cs typeface="Comfortaa SemiBold"/>
              <a:sym typeface="Comfortaa SemiBold"/>
            </a:endParaRPr>
          </a:p>
          <a:p>
            <a:pPr marL="540000" lvl="1" indent="-304799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omfortaa SemiBold"/>
              <a:buChar char="○"/>
            </a:pPr>
            <a:r>
              <a:rPr lang="en-GB" sz="1200">
                <a:solidFill>
                  <a:schemeClr val="dk1"/>
                </a:solidFill>
                <a:latin typeface="Comfortaa SemiBold"/>
                <a:ea typeface="Comfortaa SemiBold"/>
                <a:cs typeface="Comfortaa SemiBold"/>
                <a:sym typeface="Comfortaa SemiBold"/>
              </a:rPr>
              <a:t>For NGOs and UN Teams:</a:t>
            </a:r>
            <a:endParaRPr sz="1200">
              <a:solidFill>
                <a:schemeClr val="dk1"/>
              </a:solidFill>
              <a:latin typeface="Comfortaa SemiBold"/>
              <a:ea typeface="Comfortaa SemiBold"/>
              <a:cs typeface="Comfortaa SemiBold"/>
              <a:sym typeface="Comfortaa SemiBold"/>
            </a:endParaRPr>
          </a:p>
          <a:p>
            <a:pPr marL="3600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fortaa"/>
              <a:buChar char="●"/>
            </a:pPr>
            <a:r>
              <a:rPr lang="en-GB" sz="1400" b="1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Reduces manual comparison and supports advocacy monitoring.</a:t>
            </a:r>
            <a:endParaRPr sz="1400" b="1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540000" lvl="1" indent="-304799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omfortaa SemiBold"/>
              <a:buChar char="○"/>
            </a:pPr>
            <a:r>
              <a:rPr lang="en-GB" sz="1200">
                <a:solidFill>
                  <a:schemeClr val="dk1"/>
                </a:solidFill>
                <a:latin typeface="Comfortaa SemiBold"/>
                <a:ea typeface="Comfortaa SemiBold"/>
                <a:cs typeface="Comfortaa SemiBold"/>
                <a:sym typeface="Comfortaa SemiBold"/>
              </a:rPr>
              <a:t>For Donors and Policy Teams:</a:t>
            </a:r>
            <a:endParaRPr sz="1200">
              <a:solidFill>
                <a:schemeClr val="dk1"/>
              </a:solidFill>
              <a:latin typeface="Comfortaa SemiBold"/>
              <a:ea typeface="Comfortaa SemiBold"/>
              <a:cs typeface="Comfortaa SemiBold"/>
              <a:sym typeface="Comfortaa SemiBold"/>
            </a:endParaRPr>
          </a:p>
          <a:p>
            <a:pPr marL="540000" lvl="1" indent="-304799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omfortaa SemiBold"/>
              <a:buChar char="○"/>
            </a:pPr>
            <a:r>
              <a:rPr lang="en-GB" sz="1200">
                <a:solidFill>
                  <a:schemeClr val="dk1"/>
                </a:solidFill>
                <a:latin typeface="Comfortaa SemiBold"/>
                <a:ea typeface="Comfortaa SemiBold"/>
                <a:cs typeface="Comfortaa SemiBold"/>
                <a:sym typeface="Comfortaa SemiBold"/>
              </a:rPr>
              <a:t>Adds an explainable signal for attention and funding priorities.</a:t>
            </a:r>
            <a:endParaRPr sz="1200">
              <a:solidFill>
                <a:schemeClr val="dk1"/>
              </a:solidFill>
              <a:latin typeface="Comfortaa SemiBold"/>
              <a:ea typeface="Comfortaa SemiBold"/>
              <a:cs typeface="Comfortaa SemiBold"/>
              <a:sym typeface="Comfortaa SemiBold"/>
            </a:endParaRPr>
          </a:p>
          <a:p>
            <a:pPr marL="3600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fortaa"/>
              <a:buChar char="●"/>
            </a:pPr>
            <a:r>
              <a:rPr lang="en-GB" sz="1400" b="1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Expected Outcomes:</a:t>
            </a:r>
            <a:endParaRPr sz="1400" b="1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630000" lvl="1" indent="-35242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omfortaa SemiBold"/>
              <a:buChar char="○"/>
            </a:pPr>
            <a:r>
              <a:rPr lang="en-GB" sz="1200">
                <a:solidFill>
                  <a:schemeClr val="dk1"/>
                </a:solidFill>
                <a:latin typeface="Comfortaa SemiBold"/>
                <a:ea typeface="Comfortaa SemiBold"/>
                <a:cs typeface="Comfortaa SemiBold"/>
                <a:sym typeface="Comfortaa SemiBold"/>
              </a:rPr>
              <a:t>Faster discovery, traceable communication and broader visibility.</a:t>
            </a:r>
            <a:endParaRPr sz="1200">
              <a:solidFill>
                <a:schemeClr val="dk1"/>
              </a:solidFill>
              <a:latin typeface="Comfortaa SemiBold"/>
              <a:ea typeface="Comfortaa SemiBold"/>
              <a:cs typeface="Comfortaa SemiBold"/>
              <a:sym typeface="Comfortaa SemiBold"/>
            </a:endParaRPr>
          </a:p>
          <a:p>
            <a:pPr marL="630000" lvl="1" indent="-35242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omfortaa SemiBold"/>
              <a:buChar char="○"/>
            </a:pPr>
            <a:r>
              <a:rPr lang="en-GB" sz="1200">
                <a:solidFill>
                  <a:schemeClr val="dk1"/>
                </a:solidFill>
                <a:latin typeface="Comfortaa SemiBold"/>
                <a:ea typeface="Comfortaa SemiBold"/>
                <a:cs typeface="Comfortaa SemiBold"/>
                <a:sym typeface="Comfortaa SemiBold"/>
              </a:rPr>
              <a:t>Measure freshness, delivery success, users, shares and actions.</a:t>
            </a:r>
            <a:endParaRPr sz="1200">
              <a:solidFill>
                <a:schemeClr val="dk1"/>
              </a:solidFill>
              <a:latin typeface="Comfortaa SemiBold"/>
              <a:ea typeface="Comfortaa SemiBold"/>
              <a:cs typeface="Comfortaa SemiBold"/>
              <a:sym typeface="Comfortaa SemiBold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endParaRPr sz="1400">
              <a:solidFill>
                <a:schemeClr val="dk1"/>
              </a:solidFill>
              <a:latin typeface="Comfortaa SemiBold"/>
              <a:ea typeface="Comfortaa SemiBold"/>
              <a:cs typeface="Comfortaa SemiBold"/>
              <a:sym typeface="Comfortaa SemiBold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endParaRPr>
              <a:latin typeface="Comfortaa SemiBold"/>
              <a:ea typeface="Comfortaa SemiBold"/>
              <a:cs typeface="Comfortaa SemiBold"/>
              <a:sym typeface="Comfortaa SemiBold"/>
            </a:endParaRPr>
          </a:p>
        </p:txBody>
      </p:sp>
      <p:pic>
        <p:nvPicPr>
          <p:cNvPr id="116" name="Picture 115" descr="Screenshot From 2026-07-26 00-44-4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2050" y="1689647"/>
            <a:ext cx="3051950" cy="176420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FEC"/>
        </a:solidFill>
        <a:effectLst/>
      </p:bgPr>
    </p:bg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Picture 123" descr="Screenshot From 2026-07-26 00-43-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9149" y="0"/>
            <a:ext cx="5332426" cy="5143501"/>
          </a:xfrm>
          <a:prstGeom prst="rect">
            <a:avLst/>
          </a:prstGeom>
        </p:spPr>
      </p:pic>
      <p:sp>
        <p:nvSpPr>
          <p:cNvPr id="122" name="Google Shape;122;p10"/>
          <p:cNvSpPr txBox="1">
            <a:spLocks noGrp="1"/>
          </p:cNvSpPr>
          <p:nvPr>
            <p:ph type="title"/>
          </p:nvPr>
        </p:nvSpPr>
        <p:spPr>
          <a:xfrm>
            <a:off x="204825" y="1511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Why It Will Work: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0"/>
          <p:cNvSpPr txBox="1">
            <a:spLocks noGrp="1"/>
          </p:cNvSpPr>
          <p:nvPr>
            <p:ph type="body" idx="1"/>
          </p:nvPr>
        </p:nvSpPr>
        <p:spPr>
          <a:xfrm>
            <a:off x="204825" y="86355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 b="1">
                <a:solidFill>
                  <a:schemeClr val="dk1"/>
                </a:solidFill>
                <a:highlight>
                  <a:srgbClr val="FCFFEC"/>
                </a:highlight>
                <a:latin typeface="Comfortaa"/>
                <a:ea typeface="Comfortaa"/>
                <a:cs typeface="Comfortaa"/>
                <a:sym typeface="Comfortaa"/>
              </a:rPr>
              <a:t>Evidence-Driven:</a:t>
            </a:r>
            <a:endParaRPr sz="1300" b="1">
              <a:solidFill>
                <a:schemeClr val="dk1"/>
              </a:solidFill>
              <a:highlight>
                <a:srgbClr val="FCFFEC"/>
              </a:highlight>
              <a:latin typeface="Comfortaa"/>
              <a:ea typeface="Comfortaa"/>
              <a:cs typeface="Comfortaa"/>
              <a:sym typeface="Comfortaa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omfortaa SemiBold"/>
              <a:buChar char="●"/>
            </a:pPr>
            <a:r>
              <a:rPr lang="en-GB" sz="1200">
                <a:solidFill>
                  <a:schemeClr val="dk1"/>
                </a:solidFill>
                <a:highlight>
                  <a:srgbClr val="FCFFEC"/>
                </a:highlight>
                <a:latin typeface="Comfortaa SemiBold"/>
                <a:ea typeface="Comfortaa SemiBold"/>
                <a:cs typeface="Comfortaa SemiBold"/>
                <a:sym typeface="Comfortaa SemiBold"/>
              </a:rPr>
              <a:t>Combines trusted public sources and preserves every raw observation.</a:t>
            </a:r>
            <a:endParaRPr sz="1200">
              <a:solidFill>
                <a:schemeClr val="dk1"/>
              </a:solidFill>
              <a:highlight>
                <a:srgbClr val="FCFFEC"/>
              </a:highlight>
              <a:latin typeface="Comfortaa SemiBold"/>
              <a:ea typeface="Comfortaa SemiBold"/>
              <a:cs typeface="Comfortaa SemiBold"/>
              <a:sym typeface="Comfortaa SemiBold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 b="1">
                <a:solidFill>
                  <a:schemeClr val="dk1"/>
                </a:solidFill>
                <a:highlight>
                  <a:srgbClr val="FCFFEC"/>
                </a:highlight>
                <a:latin typeface="Comfortaa"/>
                <a:ea typeface="Comfortaa"/>
                <a:cs typeface="Comfortaa"/>
                <a:sym typeface="Comfortaa"/>
              </a:rPr>
              <a:t>Transparent by Design:</a:t>
            </a:r>
            <a:endParaRPr sz="1300" b="1">
              <a:solidFill>
                <a:schemeClr val="dk1"/>
              </a:solidFill>
              <a:highlight>
                <a:srgbClr val="FCFFEC"/>
              </a:highlight>
              <a:latin typeface="Comfortaa"/>
              <a:ea typeface="Comfortaa"/>
              <a:cs typeface="Comfortaa"/>
              <a:sym typeface="Comfortaa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omfortaa SemiBold"/>
              <a:buChar char="●"/>
            </a:pPr>
            <a:r>
              <a:rPr lang="en-GB" sz="1200">
                <a:solidFill>
                  <a:schemeClr val="dk1"/>
                </a:solidFill>
                <a:highlight>
                  <a:srgbClr val="FCFFEC"/>
                </a:highlight>
                <a:latin typeface="Comfortaa SemiBold"/>
                <a:ea typeface="Comfortaa SemiBold"/>
                <a:cs typeface="Comfortaa SemiBold"/>
                <a:sym typeface="Comfortaa SemiBold"/>
              </a:rPr>
              <a:t>Versioned scoring and score-linked briefs make outputs auditable.</a:t>
            </a:r>
            <a:endParaRPr sz="1200">
              <a:solidFill>
                <a:schemeClr val="dk1"/>
              </a:solidFill>
              <a:highlight>
                <a:srgbClr val="FCFFEC"/>
              </a:highlight>
              <a:latin typeface="Comfortaa SemiBold"/>
              <a:ea typeface="Comfortaa SemiBold"/>
              <a:cs typeface="Comfortaa SemiBold"/>
              <a:sym typeface="Comfortaa SemiBold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 b="1">
                <a:solidFill>
                  <a:schemeClr val="dk1"/>
                </a:solidFill>
                <a:highlight>
                  <a:srgbClr val="FCFFEC"/>
                </a:highlight>
                <a:latin typeface="Comfortaa"/>
                <a:ea typeface="Comfortaa"/>
                <a:cs typeface="Comfortaa"/>
                <a:sym typeface="Comfortaa"/>
              </a:rPr>
              <a:t>Resilient Operations:</a:t>
            </a:r>
            <a:endParaRPr sz="1300" b="1">
              <a:solidFill>
                <a:schemeClr val="dk1"/>
              </a:solidFill>
              <a:highlight>
                <a:srgbClr val="FCFFEC"/>
              </a:highlight>
              <a:latin typeface="Comfortaa"/>
              <a:ea typeface="Comfortaa"/>
              <a:cs typeface="Comfortaa"/>
              <a:sym typeface="Comfortaa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omfortaa SemiBold"/>
              <a:buChar char="●"/>
            </a:pPr>
            <a:r>
              <a:rPr lang="en-GB" sz="1200">
                <a:solidFill>
                  <a:schemeClr val="dk1"/>
                </a:solidFill>
                <a:highlight>
                  <a:srgbClr val="FCFFEC"/>
                </a:highlight>
                <a:latin typeface="Comfortaa SemiBold"/>
                <a:ea typeface="Comfortaa SemiBold"/>
                <a:cs typeface="Comfortaa SemiBold"/>
                <a:sym typeface="Comfortaa SemiBold"/>
              </a:rPr>
              <a:t>A failed source or AI provider cannot stop ranking and outreach.</a:t>
            </a:r>
            <a:endParaRPr sz="1200">
              <a:solidFill>
                <a:schemeClr val="dk1"/>
              </a:solidFill>
              <a:highlight>
                <a:srgbClr val="FCFFEC"/>
              </a:highlight>
              <a:latin typeface="Comfortaa SemiBold"/>
              <a:ea typeface="Comfortaa SemiBold"/>
              <a:cs typeface="Comfortaa SemiBold"/>
              <a:sym typeface="Comfortaa SemiBold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 b="1">
                <a:solidFill>
                  <a:schemeClr val="dk1"/>
                </a:solidFill>
                <a:highlight>
                  <a:srgbClr val="FCFFEC"/>
                </a:highlight>
                <a:latin typeface="Comfortaa"/>
                <a:ea typeface="Comfortaa"/>
                <a:cs typeface="Comfortaa"/>
                <a:sym typeface="Comfortaa"/>
              </a:rPr>
              <a:t>Proven End-to-End:</a:t>
            </a:r>
            <a:endParaRPr sz="1300" b="1">
              <a:solidFill>
                <a:schemeClr val="dk1"/>
              </a:solidFill>
              <a:highlight>
                <a:srgbClr val="FCFFEC"/>
              </a:highlight>
              <a:latin typeface="Comfortaa"/>
              <a:ea typeface="Comfortaa"/>
              <a:cs typeface="Comfortaa"/>
              <a:sym typeface="Comfortaa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omfortaa SemiBold"/>
              <a:buChar char="●"/>
            </a:pPr>
            <a:r>
              <a:rPr lang="en-GB" sz="1200">
                <a:solidFill>
                  <a:schemeClr val="dk1"/>
                </a:solidFill>
                <a:highlight>
                  <a:srgbClr val="FCFFEC"/>
                </a:highlight>
                <a:latin typeface="Comfortaa SemiBold"/>
                <a:ea typeface="Comfortaa SemiBold"/>
                <a:cs typeface="Comfortaa SemiBold"/>
                <a:sym typeface="Comfortaa SemiBold"/>
              </a:rPr>
              <a:t>Dashboard, API, database, n8n, Telegram and email are working live.</a:t>
            </a:r>
            <a:endParaRPr sz="1200">
              <a:solidFill>
                <a:schemeClr val="dk1"/>
              </a:solidFill>
              <a:highlight>
                <a:srgbClr val="FCFFEC"/>
              </a:highlight>
              <a:latin typeface="Comfortaa SemiBold"/>
              <a:ea typeface="Comfortaa SemiBold"/>
              <a:cs typeface="Comfortaa SemiBold"/>
              <a:sym typeface="Comfortaa SemiBold"/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770"/>
              <a:buNone/>
            </a:pPr>
            <a:endParaRPr sz="1200">
              <a:solidFill>
                <a:schemeClr val="dk1"/>
              </a:solidFill>
              <a:highlight>
                <a:srgbClr val="FCFFEC"/>
              </a:highlight>
              <a:latin typeface="Comfortaa SemiBold"/>
              <a:ea typeface="Comfortaa SemiBold"/>
              <a:cs typeface="Comfortaa SemiBold"/>
              <a:sym typeface="Comfortaa SemiBol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1"/>
          <p:cNvSpPr txBox="1">
            <a:spLocks noGrp="1"/>
          </p:cNvSpPr>
          <p:nvPr>
            <p:ph type="title"/>
          </p:nvPr>
        </p:nvSpPr>
        <p:spPr>
          <a:xfrm>
            <a:off x="204825" y="1209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Results and Output: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" name="Google Shape;131;p11"/>
          <p:cNvSpPr txBox="1"/>
          <p:nvPr/>
        </p:nvSpPr>
        <p:spPr>
          <a:xfrm>
            <a:off x="494325" y="4210400"/>
            <a:ext cx="77487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b="0" i="0" u="none" strike="noStrike" cap="none">
                <a:solidFill>
                  <a:schemeClr val="dk1"/>
                </a:solidFill>
                <a:latin typeface="Comfortaa SemiBold"/>
                <a:ea typeface="Comfortaa SemiBold"/>
                <a:cs typeface="Comfortaa SemiBold"/>
                <a:sym typeface="Comfortaa SemiBold"/>
              </a:rPr>
              <a:t>The live ranking surfaces Syrian Arab Republic, Sudan, Yemen and Afghanistan as current high attention-gap crises.</a:t>
            </a:r>
            <a:endParaRPr sz="1600" b="0" i="0" u="none" strike="noStrike" cap="none">
              <a:solidFill>
                <a:schemeClr val="dk1"/>
              </a:solidFill>
              <a:latin typeface="Comfortaa SemiBold"/>
              <a:ea typeface="Comfortaa SemiBold"/>
              <a:cs typeface="Comfortaa SemiBold"/>
              <a:sym typeface="Comfortaa SemiBold"/>
            </a:endParaRPr>
          </a:p>
        </p:txBody>
      </p:sp>
      <p:pic>
        <p:nvPicPr>
          <p:cNvPr id="132" name="Picture 131" descr="Screenshot From 2026-07-26 00-44-1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0497" y="749808"/>
            <a:ext cx="5663006" cy="327355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2"/>
          <p:cNvSpPr txBox="1">
            <a:spLocks noGrp="1"/>
          </p:cNvSpPr>
          <p:nvPr>
            <p:ph type="title"/>
          </p:nvPr>
        </p:nvSpPr>
        <p:spPr>
          <a:xfrm>
            <a:off x="311700" y="1568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020" b="1">
                <a:latin typeface="Comfortaa"/>
                <a:ea typeface="Comfortaa"/>
                <a:cs typeface="Comfortaa"/>
                <a:sym typeface="Comfortaa"/>
              </a:rPr>
              <a:t>Deployed Lumen Dashboard:</a:t>
            </a:r>
            <a:endParaRPr sz="2020" b="1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38" name="Google Shape;138;p12"/>
          <p:cNvSpPr txBox="1"/>
          <p:nvPr/>
        </p:nvSpPr>
        <p:spPr>
          <a:xfrm>
            <a:off x="311700" y="4208325"/>
            <a:ext cx="83856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b="1" i="0" u="none" strike="noStrike" cap="none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  <a:hlinkClick r:id="rId3"/>
              </a:rPr>
              <a:t>Public HTTPS dashboard — explore rankings, crisis evidence, trends and grounded briefs.</a:t>
            </a:r>
            <a:r>
              <a:rPr lang="en-GB" sz="1600" b="1" i="0" u="sng" strike="noStrike" cap="none">
                <a:solidFill>
                  <a:schemeClr val="hlink"/>
                </a:solidFill>
                <a:latin typeface="Comfortaa"/>
                <a:ea typeface="Comfortaa"/>
                <a:cs typeface="Comfortaa"/>
                <a:sym typeface="Comfortaa"/>
              </a:rPr>
              <a:t/>
            </a:r>
            <a:endParaRPr sz="1600" b="1" i="0" u="none" strike="noStrike" cap="none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139" name="Picture 138" descr="Screenshot From 2026-07-26 00-44-08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0497" y="749808"/>
            <a:ext cx="5663006" cy="327355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3"/>
          <p:cNvSpPr txBox="1">
            <a:spLocks noGrp="1"/>
          </p:cNvSpPr>
          <p:nvPr>
            <p:ph type="title"/>
          </p:nvPr>
        </p:nvSpPr>
        <p:spPr>
          <a:xfrm>
            <a:off x="311700" y="1631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Live Notification Delivery: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" name="Google Shape;145;p13"/>
          <p:cNvSpPr txBox="1"/>
          <p:nvPr/>
        </p:nvSpPr>
        <p:spPr>
          <a:xfrm>
            <a:off x="777900" y="4407625"/>
            <a:ext cx="7799100" cy="4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chemeClr val="dk1"/>
                </a:solidFill>
                <a:latin typeface="Comfortaa SemiBold"/>
                <a:ea typeface="Comfortaa SemiBold"/>
                <a:cs typeface="Comfortaa SemiBold"/>
                <a:sym typeface="Comfortaa SemiBold"/>
              </a:rPr>
              <a:t>Evidence-grounded humanitarian briefs were delivered successfully through Telegram and Resend email.</a:t>
            </a:r>
            <a:endParaRPr sz="1800" b="0" i="0" u="none" strike="noStrike" cap="none">
              <a:solidFill>
                <a:schemeClr val="dk1"/>
              </a:solidFill>
              <a:latin typeface="Comfortaa SemiBold"/>
              <a:ea typeface="Comfortaa SemiBold"/>
              <a:cs typeface="Comfortaa SemiBold"/>
              <a:sym typeface="Comfortaa SemiBold"/>
            </a:endParaRPr>
          </a:p>
        </p:txBody>
      </p:sp>
      <p:pic>
        <p:nvPicPr>
          <p:cNvPr id="146" name="Picture 145" descr="Screenshot From 2026-07-26 00-43-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003" y="841248"/>
            <a:ext cx="3431712" cy="3310128"/>
          </a:xfrm>
          <a:prstGeom prst="rect">
            <a:avLst/>
          </a:prstGeom>
        </p:spPr>
      </p:pic>
      <p:pic>
        <p:nvPicPr>
          <p:cNvPr id="147" name="Picture 146" descr="Screenshot From 2026-07-26 02-38-3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2272" y="1307321"/>
            <a:ext cx="4361688" cy="237798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14"/>
          <p:cNvPicPr preferRelativeResize="0"/>
          <p:nvPr/>
        </p:nvPicPr>
        <p:blipFill rotWithShape="1">
          <a:blip r:embed="rId3">
            <a:alphaModFix/>
          </a:blip>
          <a:srcRect l="33684" t="31907" r="33280" b="29946"/>
          <a:stretch/>
        </p:blipFill>
        <p:spPr>
          <a:xfrm>
            <a:off x="0" y="0"/>
            <a:ext cx="914400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 b="1">
                <a:highlight>
                  <a:schemeClr val="lt1"/>
                </a:highlight>
                <a:latin typeface="Lexend"/>
                <a:ea typeface="Lexend"/>
                <a:cs typeface="Lexend"/>
                <a:sym typeface="Lexend"/>
              </a:rPr>
              <a:t>Project Links:</a:t>
            </a:r>
            <a:endParaRPr b="1">
              <a:highlight>
                <a:schemeClr val="lt1"/>
              </a:highlight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850" b="1">
                <a:solidFill>
                  <a:schemeClr val="dk1"/>
                </a:solidFill>
                <a:highlight>
                  <a:srgbClr val="FFFFFF"/>
                </a:highlight>
                <a:latin typeface="Comfortaa"/>
                <a:ea typeface="Comfortaa"/>
                <a:cs typeface="Comfortaa"/>
                <a:sym typeface="Comfortaa"/>
                <a:hlinkClick r:id="rId5"/>
              </a:rPr>
              <a:t>GitHub Repository:  https://github.com/Preethesh16/Lumen</a:t>
            </a:r>
            <a:endParaRPr sz="1850" b="1">
              <a:solidFill>
                <a:schemeClr val="dk1"/>
              </a:solidFill>
              <a:highlight>
                <a:srgbClr val="FFFFFF"/>
              </a:highlight>
              <a:latin typeface="Comfortaa"/>
              <a:ea typeface="Comfortaa"/>
              <a:cs typeface="Comfortaa"/>
              <a:sym typeface="Comfortaa"/>
            </a:endParaRPr>
          </a:p>
          <a:p>
            <a:pPr marL="457200" lvl="0" indent="-333375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50"/>
              <a:buFont typeface="Comfortaa"/>
              <a:buChar char="●"/>
            </a:pPr>
            <a:r>
              <a:rPr lang="en-GB" sz="1650" b="1">
                <a:solidFill>
                  <a:schemeClr val="dk1"/>
                </a:solidFill>
                <a:highlight>
                  <a:srgbClr val="FFFFFF"/>
                </a:highlight>
                <a:latin typeface="Comfortaa"/>
                <a:ea typeface="Comfortaa"/>
                <a:cs typeface="Comfortaa"/>
                <a:sym typeface="Comfortaa"/>
                <a:hlinkClick r:id="rId6"/>
              </a:rPr>
              <a:t>Dashboard (Frontend):  https://lumen.64-227-166-157.sslip.io</a:t>
            </a:r>
            <a:endParaRPr sz="1650" b="1">
              <a:solidFill>
                <a:schemeClr val="dk1"/>
              </a:solidFill>
              <a:highlight>
                <a:srgbClr val="FFFFFF"/>
              </a:highlight>
              <a:latin typeface="Comfortaa"/>
              <a:ea typeface="Comfortaa"/>
              <a:cs typeface="Comfortaa"/>
              <a:sym typeface="Comfortaa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endParaRPr lang="en-GB" sz="1650" b="1" u="sng" dirty="0">
              <a:solidFill>
                <a:schemeClr val="hlink"/>
              </a:solidFill>
              <a:highlight>
                <a:srgbClr val="FFFFFF"/>
              </a:highlight>
              <a:latin typeface="Comfortaa"/>
              <a:ea typeface="Comfortaa"/>
              <a:cs typeface="Comfortaa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endParaRPr sz="1650" b="1">
              <a:solidFill>
                <a:srgbClr val="525252"/>
              </a:solidFill>
              <a:highlight>
                <a:srgbClr val="FFFFFF"/>
              </a:highlight>
              <a:latin typeface="Comfortaa"/>
              <a:ea typeface="Comfortaa"/>
              <a:cs typeface="Comfortaa"/>
              <a:sym typeface="Comfortaa"/>
            </a:endParaRPr>
          </a:p>
          <a:p>
            <a:pPr marL="457200" lvl="0" indent="-333375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50"/>
              <a:buFont typeface="Comfortaa"/>
              <a:buChar char="●"/>
            </a:pPr>
            <a:r>
              <a:rPr lang="en-GB" sz="1650" b="1">
                <a:solidFill>
                  <a:schemeClr val="dk1"/>
                </a:solidFill>
                <a:highlight>
                  <a:srgbClr val="FFFFFF"/>
                </a:highlight>
                <a:latin typeface="Comfortaa"/>
                <a:ea typeface="Comfortaa"/>
                <a:cs typeface="Comfortaa"/>
                <a:sym typeface="Comfortaa"/>
                <a:hlinkClick r:id="rId7"/>
              </a:rPr>
              <a:t>API Health (Backend):  https://api.64-227-166-157.sslip.io/health</a:t>
            </a:r>
            <a:endParaRPr sz="1650" b="1">
              <a:solidFill>
                <a:schemeClr val="dk1"/>
              </a:solidFill>
              <a:highlight>
                <a:srgbClr val="FFFFFF"/>
              </a:highlight>
              <a:latin typeface="Comfortaa"/>
              <a:ea typeface="Comfortaa"/>
              <a:cs typeface="Comfortaa"/>
              <a:sym typeface="Comfortaa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endParaRPr lang="en-GB" sz="1650" b="1" u="sng" dirty="0">
              <a:solidFill>
                <a:schemeClr val="hlink"/>
              </a:solidFill>
              <a:highlight>
                <a:srgbClr val="FFFFFF"/>
              </a:highlight>
              <a:latin typeface="Comfortaa"/>
              <a:ea typeface="Comfortaa"/>
              <a:cs typeface="Comfortaa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endParaRPr sz="1050">
              <a:solidFill>
                <a:srgbClr val="525252"/>
              </a:solidFill>
              <a:highlight>
                <a:srgbClr val="FFFFFF"/>
              </a:highlight>
            </a:endParaRPr>
          </a:p>
        </p:txBody>
      </p:sp>
      <p:pic>
        <p:nvPicPr>
          <p:cNvPr id="153" name="Google Shape;153;p14">
            <a:hlinkClick r:id="rId6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5850" y="2133350"/>
            <a:ext cx="438401" cy="438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4">
            <a:hlinkClick r:id="rId7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5850" y="3687375"/>
            <a:ext cx="438401" cy="438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8"/>
        </a:solidFill>
        <a:effectLst/>
      </p:bgPr>
    </p:bg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Picture 161" descr="Screenshot From 2026-07-26 00-44-4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6301" y="1338259"/>
            <a:ext cx="4267699" cy="2466982"/>
          </a:xfrm>
          <a:prstGeom prst="rect">
            <a:avLst/>
          </a:prstGeom>
        </p:spPr>
      </p:pic>
      <p:sp>
        <p:nvSpPr>
          <p:cNvPr id="160" name="Google Shape;160;p15"/>
          <p:cNvSpPr txBox="1">
            <a:spLocks noGrp="1"/>
          </p:cNvSpPr>
          <p:nvPr>
            <p:ph type="title"/>
          </p:nvPr>
        </p:nvSpPr>
        <p:spPr>
          <a:xfrm>
            <a:off x="146950" y="1377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Conclusion: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" name="Google Shape;161;p15"/>
          <p:cNvSpPr txBox="1">
            <a:spLocks noGrp="1"/>
          </p:cNvSpPr>
          <p:nvPr>
            <p:ph type="body" idx="1"/>
          </p:nvPr>
        </p:nvSpPr>
        <p:spPr>
          <a:xfrm>
            <a:off x="146950" y="817300"/>
            <a:ext cx="4662600" cy="420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 b="1">
                <a:solidFill>
                  <a:schemeClr val="dk1"/>
                </a:solidFill>
                <a:highlight>
                  <a:srgbClr val="F7F3E8"/>
                </a:highlight>
                <a:latin typeface="Comfortaa"/>
                <a:ea typeface="Comfortaa"/>
                <a:cs typeface="Comfortaa"/>
                <a:sym typeface="Comfortaa"/>
              </a:rPr>
              <a:t>Summary:</a:t>
            </a:r>
            <a:endParaRPr sz="1600" b="1">
              <a:solidFill>
                <a:schemeClr val="dk1"/>
              </a:solidFill>
              <a:highlight>
                <a:srgbClr val="F7F3E8"/>
              </a:highlight>
              <a:latin typeface="Comfortaa"/>
              <a:ea typeface="Comfortaa"/>
              <a:cs typeface="Comfortaa"/>
              <a:sym typeface="Comfortaa"/>
            </a:endParaRPr>
          </a:p>
          <a:p>
            <a:pPr marL="457200" lvl="0" indent="-32385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mfortaa"/>
              <a:buChar char="●"/>
            </a:pPr>
            <a:r>
              <a:rPr lang="en-GB" sz="1500" b="1">
                <a:solidFill>
                  <a:schemeClr val="dk1"/>
                </a:solidFill>
                <a:highlight>
                  <a:srgbClr val="F7F3E8"/>
                </a:highlight>
                <a:latin typeface="Comfortaa"/>
                <a:ea typeface="Comfortaa"/>
                <a:cs typeface="Comfortaa"/>
                <a:sym typeface="Comfortaa"/>
              </a:rPr>
              <a:t>Lumen measures where humanitarian need outpaces attention.</a:t>
            </a:r>
            <a:endParaRPr sz="1500" b="1">
              <a:solidFill>
                <a:schemeClr val="dk1"/>
              </a:solidFill>
              <a:highlight>
                <a:srgbClr val="F7F3E8"/>
              </a:highlight>
              <a:latin typeface="Comfortaa"/>
              <a:ea typeface="Comfortaa"/>
              <a:cs typeface="Comfortaa"/>
              <a:sym typeface="Comfortaa"/>
            </a:endParaRPr>
          </a:p>
          <a:p>
            <a:pPr marL="45720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mfortaa"/>
              <a:buChar char="●"/>
            </a:pPr>
            <a:r>
              <a:rPr lang="en-GB" sz="1500" b="1">
                <a:solidFill>
                  <a:schemeClr val="dk1"/>
                </a:solidFill>
                <a:highlight>
                  <a:srgbClr val="F7F3E8"/>
                </a:highlight>
                <a:latin typeface="Comfortaa"/>
                <a:ea typeface="Comfortaa"/>
                <a:cs typeface="Comfortaa"/>
                <a:sym typeface="Comfortaa"/>
              </a:rPr>
              <a:t>It connects daily public data, explainable scoring and live outreach.</a:t>
            </a:r>
            <a:endParaRPr sz="1500" b="1">
              <a:solidFill>
                <a:schemeClr val="dk1"/>
              </a:solidFill>
              <a:highlight>
                <a:srgbClr val="F7F3E8"/>
              </a:highlight>
              <a:latin typeface="Comfortaa"/>
              <a:ea typeface="Comfortaa"/>
              <a:cs typeface="Comfortaa"/>
              <a:sym typeface="Comfortaa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 b="1">
                <a:solidFill>
                  <a:schemeClr val="dk1"/>
                </a:solidFill>
                <a:highlight>
                  <a:srgbClr val="F7F3E8"/>
                </a:highlight>
                <a:latin typeface="Comfortaa"/>
                <a:ea typeface="Comfortaa"/>
                <a:cs typeface="Comfortaa"/>
                <a:sym typeface="Comfortaa"/>
              </a:rPr>
              <a:t>Future Work:</a:t>
            </a:r>
            <a:endParaRPr sz="1600" b="1">
              <a:solidFill>
                <a:schemeClr val="dk1"/>
              </a:solidFill>
              <a:highlight>
                <a:srgbClr val="F7F3E8"/>
              </a:highlight>
              <a:latin typeface="Comfortaa"/>
              <a:ea typeface="Comfortaa"/>
              <a:cs typeface="Comfortaa"/>
              <a:sym typeface="Comfortaa"/>
            </a:endParaRPr>
          </a:p>
          <a:p>
            <a:pPr marL="457200" lvl="0" indent="-32385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mfortaa"/>
              <a:buChar char="●"/>
            </a:pPr>
            <a:r>
              <a:rPr lang="en-GB" sz="1500" b="1">
                <a:solidFill>
                  <a:schemeClr val="dk1"/>
                </a:solidFill>
                <a:highlight>
                  <a:srgbClr val="F7F3E8"/>
                </a:highlight>
                <a:latin typeface="Comfortaa"/>
                <a:ea typeface="Comfortaa"/>
                <a:cs typeface="Comfortaa"/>
                <a:sym typeface="Comfortaa"/>
              </a:rPr>
              <a:t>Activate ReliefWeb after approval and calibrate with user feedback.</a:t>
            </a:r>
            <a:endParaRPr sz="1500" b="1">
              <a:solidFill>
                <a:schemeClr val="dk1"/>
              </a:solidFill>
              <a:highlight>
                <a:srgbClr val="F7F3E8"/>
              </a:highlight>
              <a:latin typeface="Comfortaa"/>
              <a:ea typeface="Comfortaa"/>
              <a:cs typeface="Comfortaa"/>
              <a:sym typeface="Comfortaa"/>
            </a:endParaRPr>
          </a:p>
          <a:p>
            <a:pPr marL="45720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mfortaa"/>
              <a:buChar char="●"/>
            </a:pPr>
            <a:r>
              <a:rPr lang="en-GB" sz="1500" b="1">
                <a:solidFill>
                  <a:schemeClr val="dk1"/>
                </a:solidFill>
                <a:highlight>
                  <a:srgbClr val="F7F3E8"/>
                </a:highlight>
                <a:latin typeface="Comfortaa"/>
                <a:ea typeface="Comfortaa"/>
                <a:cs typeface="Comfortaa"/>
                <a:sym typeface="Comfortaa"/>
              </a:rPr>
              <a:t>Pilot with newsrooms and NGOs; add fixed-scale and sub-national signals.</a:t>
            </a:r>
            <a:endParaRPr sz="1500" b="1">
              <a:solidFill>
                <a:schemeClr val="dk1"/>
              </a:solidFill>
              <a:highlight>
                <a:srgbClr val="F7F3E8"/>
              </a:highlight>
              <a:latin typeface="Comfortaa"/>
              <a:ea typeface="Comfortaa"/>
              <a:cs typeface="Comfortaa"/>
              <a:sym typeface="Comfortaa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endParaRPr>
              <a:highlight>
                <a:srgbClr val="F7F3E8"/>
              </a:highlight>
              <a:latin typeface="Comfortaa SemiBold"/>
              <a:ea typeface="Comfortaa SemiBold"/>
              <a:cs typeface="Comfortaa SemiBold"/>
              <a:sym typeface="Comfortaa Semi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15</Slides>
  <Notes>15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Simple Light</vt:lpstr>
      <vt:lpstr>Lumen- Humanitarian Attention-Gap Intelligence</vt:lpstr>
      <vt:lpstr>Introduction:</vt:lpstr>
      <vt:lpstr>Problem Statement:</vt:lpstr>
      <vt:lpstr>Sustainable Development Goal:</vt:lpstr>
      <vt:lpstr>Data Collection and Preprocessing:</vt:lpstr>
      <vt:lpstr>Model Development:</vt:lpstr>
      <vt:lpstr>Model Evaluation:</vt:lpstr>
      <vt:lpstr>Tools and Resources:</vt:lpstr>
      <vt:lpstr>Model Impact and Effectiveness:</vt:lpstr>
      <vt:lpstr>Why It Will Work:</vt:lpstr>
      <vt:lpstr>Results or Outcome:</vt:lpstr>
      <vt:lpstr>Deployed Model:</vt:lpstr>
      <vt:lpstr>Prediction Result of Model:</vt:lpstr>
      <vt:lpstr>Link to ML Model:</vt:lpstr>
      <vt:lpstr>Conclusion: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38</cp:revision>
  <dcterms:modified xsi:type="dcterms:W3CDTF">2026-07-25T21:07:22Z</dcterms:modified>
</cp:coreProperties>
</file>